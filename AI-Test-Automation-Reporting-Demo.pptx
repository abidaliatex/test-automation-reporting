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AI-Powered Test Automation Reporting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CFDAE8"/>
                </a:solidFill>
                <a:latin typeface="Calibri"/>
              </a:rPr>
              <a:t>Turning Jenkins build failures into actionable insight — with GitHub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Prepared by: Abid Ali   |   Team: QA Automation   |   Demo for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5A623"/>
                </a:solidFill>
                <a:latin typeface="Calibri"/>
              </a:rPr>
              <a:t>Repository: abidaliatex/test-automation-reporting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What we'll cover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The Problem — why triaging Jenkins failures was painful</a:t>
            </a:r>
          </a:p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The Solution — a Copilot-driven reporting repository</a:t>
            </a:r>
          </a:p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Architecture — Jenkins × GitHub × Copilot × MCP</a:t>
            </a:r>
          </a:p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What I Built — reports, investigations, dashboards</a:t>
            </a:r>
          </a:p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Live Screenshots — Jenkins, investigations, HTML dashboard, weekly email</a:t>
            </a:r>
          </a:p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Benefits &amp; Metrics — time saved, quality gained</a:t>
            </a:r>
          </a:p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Future Goals — auto-fix, auto-Jira, self-healing tests</a:t>
            </a:r>
          </a:p>
          <a:p>
            <a:pPr algn="l">
              <a:spcAft>
                <a:spcPts val="400"/>
              </a:spcAft>
            </a:pPr>
            <a:r>
              <a:rPr sz="2200">
                <a:solidFill>
                  <a:srgbClr val="0B2A4A"/>
                </a:solidFill>
                <a:latin typeface="Calibri"/>
              </a:rPr>
              <a:t>•  Further Enhancements &amp; Vision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Manual triage of automation failures does not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Dozens of Jenkins builds per week across multiple jobs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Every red/unstable build required manual log reading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Root cause hidden in hundreds of lines of stack traces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QA engineers spent hours repeating the same triage steps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No central history → same issues re-investigated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Managers lacked a clear view of trends and hot-spots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463040"/>
            <a:ext cx="4846320" cy="43891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60" y="1463040"/>
            <a:ext cx="484632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508760"/>
            <a:ext cx="46634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Before AI Assistance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1031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~30–45 min per failed build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Knowledge lived in engineers' heads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Inconsistent report formats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Reactive, not proactive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A Copilot-assisted reporting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555C66"/>
                </a:solidFill>
                <a:latin typeface="Calibri"/>
              </a:rPr>
              <a:t>One GitHub repo that captures every failure, explains it, and tracks it over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3657600" cy="34747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3657600" cy="45720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36576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1F6FB5"/>
                </a:solidFill>
                <a:latin typeface="Calibri"/>
              </a:rPr>
              <a:t>Automated</a:t>
            </a:r>
          </a:p>
          <a:p>
            <a:pPr algn="ctr"/>
            <a:r>
              <a:rPr sz="2200" b="1">
                <a:solidFill>
                  <a:srgbClr val="1F6FB5"/>
                </a:solidFill>
                <a:latin typeface="Calibri"/>
              </a:rPr>
              <a:t>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10896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0B2A4A"/>
                </a:solidFill>
                <a:latin typeface="Calibri"/>
              </a:rPr>
              <a:t>Every Jenkins failure creates a structured Markdown report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03120"/>
            <a:ext cx="3657600" cy="34747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103120"/>
            <a:ext cx="3657600" cy="457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697480"/>
            <a:ext cx="36576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5A623"/>
                </a:solidFill>
                <a:latin typeface="Calibri"/>
              </a:rPr>
              <a:t>AI</a:t>
            </a:r>
          </a:p>
          <a:p>
            <a:pPr algn="ctr"/>
            <a:r>
              <a:rPr sz="2200" b="1">
                <a:solidFill>
                  <a:srgbClr val="F5A623"/>
                </a:solidFill>
                <a:latin typeface="Calibri"/>
              </a:rPr>
              <a:t>Investigations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931920"/>
            <a:ext cx="310896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0B2A4A"/>
                </a:solidFill>
                <a:latin typeface="Calibri"/>
              </a:rPr>
              <a:t>Copilot writes root-cause analysis with recommended fixes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103120"/>
            <a:ext cx="3657600" cy="34747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103120"/>
            <a:ext cx="3657600" cy="457200"/>
          </a:xfrm>
          <a:prstGeom prst="rect">
            <a:avLst/>
          </a:prstGeom>
          <a:solidFill>
            <a:srgbClr val="2EA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697480"/>
            <a:ext cx="36576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2EA04F"/>
                </a:solidFill>
                <a:latin typeface="Calibri"/>
              </a:rPr>
              <a:t>Weekly</a:t>
            </a:r>
          </a:p>
          <a:p>
            <a:pPr algn="ctr"/>
            <a:r>
              <a:rPr sz="2200" b="1">
                <a:solidFill>
                  <a:srgbClr val="2EA04F"/>
                </a:solidFill>
                <a:latin typeface="Calibri"/>
              </a:rPr>
              <a:t>Dashboards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931920"/>
            <a:ext cx="310896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0B2A4A"/>
                </a:solidFill>
                <a:latin typeface="Calibri"/>
              </a:rPr>
              <a:t>Recurring patterns and hot-spots surfaced automatically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Jenkins → GitHub → Copilot → Reports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867" y="2377440"/>
            <a:ext cx="1965960" cy="137160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867" y="25146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Jenkins 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867" y="3017520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Runs automation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jobs &amp; tests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5115" y="2880360"/>
            <a:ext cx="283464" cy="36576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26867" y="2377440"/>
            <a:ext cx="1965960" cy="13716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6867" y="25146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Jenkins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6867" y="3017520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Exposes build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data to Copilot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11115" y="2880360"/>
            <a:ext cx="283464" cy="36576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12867" y="2377440"/>
            <a:ext cx="1965960" cy="13716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12867" y="25146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GitHub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2867" y="3017520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Reads failures,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writes analysis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97115" y="2880360"/>
            <a:ext cx="283464" cy="36576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98867" y="2377440"/>
            <a:ext cx="1965960" cy="1371600"/>
          </a:xfrm>
          <a:prstGeom prst="rect">
            <a:avLst/>
          </a:prstGeom>
          <a:solidFill>
            <a:srgbClr val="2EA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98867" y="25146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This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98867" y="3017520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Reports +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investigations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83115" y="2880360"/>
            <a:ext cx="283464" cy="36576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84867" y="2377440"/>
            <a:ext cx="1965960" cy="137160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84867" y="25146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Managers &amp;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Engineers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4867" y="3017520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Consume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dashboards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A4A"/>
                </a:solidFill>
                <a:latin typeface="Calibri"/>
              </a:rPr>
              <a:t>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A Jenkins build fails or turns unstable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Copilot fetches build data through the Jenkins MCP server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A failure report is generated: reports/build-failures/{job}/build-&lt;id&gt;.md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Copilot writes a root-cause analysis: investigations/copilot-findings/{job}/build-&lt;id&gt;-analysis.md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Weekly job aggregates failures into a dashboard + emails a triage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What I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A clean, opinionated repository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5943600" cy="4846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A4A"/>
                </a:solidFill>
                <a:latin typeface="Consolas"/>
              </a:rPr>
              <a:t>test-automation-reporting/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├── README.md              overview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├── AGENTS.md              Copilot behaviour rules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├── prompts/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│     └── jenkins-qa-triage.md   strict AI triage prompt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├── .github/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│     ├── copilot-instructions.md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│     ├── prompts/               reusable prompts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│     └── workflows/             automation workflows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├── reports/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│     └── build-failures/{job}/build-&lt;id&gt;.md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├── investigations/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│     └── copilot-findings/{job}/build-&lt;id&gt;-analysis.md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└── dashboards/</a:t>
            </a:r>
          </a:p>
          <a:p>
            <a:r>
              <a:rPr sz="1300">
                <a:solidFill>
                  <a:srgbClr val="0B2A4A"/>
                </a:solidFill>
                <a:latin typeface="Consolas"/>
              </a:rPr>
              <a:t>      └── weekly-summary.md / .html   trend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B2A4A"/>
                </a:solidFill>
                <a:latin typeface="Calibri"/>
              </a:rPr>
              <a:t>Design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92024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One report per build — never overwritten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Job name is part of the folder path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AGENTS.md enforces consistent AI behaviour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Strict triage prompt keeps output focused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Everything is Markdown → diff-friendly, searchable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0B2A4A"/>
                </a:solidFill>
                <a:latin typeface="Calibri"/>
              </a:rPr>
              <a:t>•  Workflows keep the repo tidy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Live View — Jenkins Build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Where it all starts: our Jenkins jobs and their build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316736"/>
            <a:ext cx="7790687" cy="5047488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enkins-build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680959" cy="4937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58199" y="1371600"/>
            <a:ext cx="3276296" cy="49377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58199" y="1371600"/>
            <a:ext cx="3276296" cy="41148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59" y="1417320"/>
            <a:ext cx="3001976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What you're seeing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79" y="1920240"/>
            <a:ext cx="291053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Nightly + SCM-triggered automation jobs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Unstable builds since #398 — pattern begins with v88 rollout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Last green build: #397  (2026-08-27)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Each build number becomes an entry in this repo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Copilot uses the Jenkins MCP server to read this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Live View — AI Root-Cause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The output of Copilot for build #401 (RIALTO-B2A trunk)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316736"/>
            <a:ext cx="3636699" cy="5047488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vestigation-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526971" cy="4937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04211" y="1371600"/>
            <a:ext cx="7430284" cy="49377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4211" y="1371600"/>
            <a:ext cx="7430284" cy="41148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1371" y="1417320"/>
            <a:ext cx="7155964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What you're seeing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7091" y="1920240"/>
            <a:ext cx="70645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Generated automatically by Copilot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Grouped by root cause, not by test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Concrete evidence: expected vs. actual values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Flags the exact bug (values halved → division-by-2)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Tracks 'failed since' history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Stored in Git — reviewable &amp; searchable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Live View — Weekly HTML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Auto-generated trend report for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316736"/>
            <a:ext cx="3401568" cy="5047488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eekly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291840" cy="4937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069080" y="1371600"/>
            <a:ext cx="7665415" cy="49377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9080" y="1371600"/>
            <a:ext cx="7665415" cy="41148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417320"/>
            <a:ext cx="7391095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What you're seeing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920240"/>
            <a:ext cx="729965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One page, all failing jobs of the week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Root causes ranked by impact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Confidence + 'still active' flags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Shareable HTML — opens in any browser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Published every Monday morning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Live View — Monday Triage Email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The weekly summary delivered straight to your inbox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316736"/>
            <a:ext cx="8339327" cy="5047488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utlook-weekly-em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599" cy="4937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006839" y="1371600"/>
            <a:ext cx="2727656" cy="49377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39" y="1371600"/>
            <a:ext cx="2727656" cy="41148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999" y="1417320"/>
            <a:ext cx="2453336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What you're seeing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19" y="1920240"/>
            <a:ext cx="236189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Sent to QA leads, devs, and management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Top 4–5 action items at the top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Latest build snapshot table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Links back to full HTML dashboard &amp; repo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2A4A"/>
                </a:solidFill>
                <a:latin typeface="Calibri"/>
              </a:rPr>
              <a:t>•  No one has to log into Jenkins to see the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By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What the repo already contains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2743200" cy="17373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2743200" cy="109728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27432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1F6FB5"/>
                </a:solidFill>
                <a:latin typeface="Calibri"/>
              </a:rPr>
              <a:t>150+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555C66"/>
                </a:solidFill>
                <a:latin typeface="Calibri"/>
              </a:rPr>
              <a:t>AI-generated investigations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1554480"/>
            <a:ext cx="2743200" cy="17373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554480"/>
            <a:ext cx="2743200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874520"/>
            <a:ext cx="27432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F5A623"/>
                </a:solidFill>
                <a:latin typeface="Calibri"/>
              </a:rPr>
              <a:t>20+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69748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555C66"/>
                </a:solidFill>
                <a:latin typeface="Calibri"/>
              </a:rPr>
              <a:t>Failed builds documented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1554480"/>
            <a:ext cx="2743200" cy="17373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1554480"/>
            <a:ext cx="2743200" cy="109728"/>
          </a:xfrm>
          <a:prstGeom prst="rect">
            <a:avLst/>
          </a:prstGeom>
          <a:solidFill>
            <a:srgbClr val="2EA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874520"/>
            <a:ext cx="27432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2EA04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555C66"/>
                </a:solidFill>
                <a:latin typeface="Calibri"/>
              </a:rPr>
              <a:t>Jenkins jobs onboarded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64040" y="1554480"/>
            <a:ext cx="2743200" cy="17373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64040" y="1554480"/>
            <a:ext cx="2743200" cy="109728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0" y="1874520"/>
            <a:ext cx="27432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269748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555C66"/>
                </a:solidFill>
                <a:latin typeface="Calibri"/>
              </a:rPr>
              <a:t>Central source of truth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B2A4A"/>
                </a:solidFill>
                <a:latin typeface="Calibri"/>
              </a:rPr>
              <a:t>Time &amp; Quality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Triage time per failure:  ~40 min  →  ~5 min   (≈ 85% faster)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Consistent report format across every build — no more free-text emails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Historical searchable trail — same failure never investigated twice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0B2A4A"/>
                </a:solidFill>
                <a:latin typeface="Calibri"/>
              </a:rPr>
              <a:t>•  Weekly dashboards make recurring root causes visible to leadership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Why AI (Copilot)?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The right tool for the right 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6FB5"/>
                </a:solidFill>
                <a:latin typeface="Calibri"/>
              </a:rPr>
              <a:t>What Copilot does well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Reads long, noisy Jenkins logs quickly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Groups failures by likely root cause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Correlates errors with recent commits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Writes clean, consistent Markdown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Follows strict prompts (AGENTS.md + triage prompt)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Improves as we refine the 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5A623"/>
                </a:solidFill>
                <a:latin typeface="Calibri"/>
              </a:rPr>
              <a:t>What humans still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Final validation of the fix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Deciding priority and ownership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Talking to dev teams and product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Reviewing the AI output for accuracy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0B2A4A"/>
                </a:solidFill>
                <a:latin typeface="Calibri"/>
              </a:rPr>
              <a:t>•  Continuously improving the prompts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Business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Why this matters beyond 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Faster feedback loop — devs learn about regressions in minutes, not days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Lower cost of quality — engineers spend time fixing, not searching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Transparency — every failure has a traceable report and analysis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Better decisions — dashboards show where to invest QA effort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Knowledge retention — nothing is lost when team members change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Scalable — adding a new Jenkins job means one folder, no new process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0B2A4A"/>
                </a:solidFill>
                <a:latin typeface="Calibri"/>
              </a:rPr>
              <a:t>•  Foundation for further automation — auto-Jira, auto-Slack, auto-fix bots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Future Goals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From reporting → to auto-remediation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623560" cy="237744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623560" cy="502920"/>
          </a:xfrm>
          <a:prstGeom prst="rect">
            <a:avLst/>
          </a:prstGeom>
          <a:solidFill>
            <a:srgbClr val="2EA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5257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🔧  Auto-Fix Automation Issues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57400"/>
            <a:ext cx="5166360" cy="1600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B2A4A"/>
                </a:solidFill>
                <a:latin typeface="Calibri"/>
              </a:rPr>
              <a:t>When failure is a test-code or config issue, Copilot opens a PR against the automation repo with the fix — reviewed by QA, merged, re-run.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5623560" cy="237744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623560" cy="50292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44752"/>
            <a:ext cx="5257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📝  Auto-Create Jira (via Jira MCP)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57400"/>
            <a:ext cx="5166360" cy="1600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B2A4A"/>
                </a:solidFill>
                <a:latin typeface="Calibri"/>
              </a:rPr>
              <a:t>When failure is a product bug, Copilot uses the Jira MCP server to open a ticket with root cause, evidence, affected scenarios, severity &amp; component.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86200"/>
            <a:ext cx="5623560" cy="237744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86200"/>
            <a:ext cx="5623560" cy="502920"/>
          </a:xfrm>
          <a:prstGeom prst="rect">
            <a:avLst/>
          </a:prstGeom>
          <a:solidFill>
            <a:srgbClr val="7A3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59352"/>
            <a:ext cx="5257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🧠  Smart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572000"/>
            <a:ext cx="5166360" cy="1600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B2A4A"/>
                </a:solidFill>
                <a:latin typeface="Calibri"/>
              </a:rPr>
              <a:t>First step in the pipeline: is this a test issue, an env issue, or a real product bug? Decides whether to auto-fix, auto-Jira, or escalate.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886200"/>
            <a:ext cx="5623560" cy="237744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886200"/>
            <a:ext cx="562356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959352"/>
            <a:ext cx="5257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♻️  Self-Healing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5166360" cy="1600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0B2A4A"/>
                </a:solidFill>
                <a:latin typeface="Calibri"/>
              </a:rPr>
              <a:t>For known flaky patterns (timing, ordering, data), Copilot proposes locators, waits, or retries and validates the fix in a scratch build.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Future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What happens automatically after a failure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1737360" cy="1005840"/>
          </a:xfrm>
          <a:prstGeom prst="rect">
            <a:avLst/>
          </a:prstGeom>
          <a:solidFill>
            <a:srgbClr val="C9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173736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Build Fails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40280" y="2148840"/>
            <a:ext cx="365760" cy="36576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97480" y="1828800"/>
            <a:ext cx="2194560" cy="1005840"/>
          </a:xfrm>
          <a:prstGeom prst="rect">
            <a:avLst/>
          </a:prstGeom>
          <a:solidFill>
            <a:srgbClr val="7A3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7480" y="196596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AI Classifier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(Copilot)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37760" y="1097280"/>
            <a:ext cx="365760" cy="32004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49240" y="914400"/>
            <a:ext cx="2926080" cy="8229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914400"/>
            <a:ext cx="137160" cy="822960"/>
          </a:xfrm>
          <a:prstGeom prst="rect">
            <a:avLst/>
          </a:prstGeom>
          <a:solidFill>
            <a:srgbClr val="2EA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2120" y="987552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EA04F"/>
                </a:solidFill>
                <a:latin typeface="Calibri"/>
              </a:rPr>
              <a:t>Test / Framework Issue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28016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0B2A4A"/>
                </a:solidFill>
                <a:latin typeface="Calibri"/>
              </a:rPr>
              <a:t>Copilot opens PR</a:t>
            </a:r>
          </a:p>
          <a:p>
            <a:pPr algn="l"/>
            <a:r>
              <a:rPr sz="1200" b="0">
                <a:solidFill>
                  <a:srgbClr val="0B2A4A"/>
                </a:solidFill>
                <a:latin typeface="Calibri"/>
              </a:rPr>
              <a:t>in automation repo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21040" y="1143000"/>
            <a:ext cx="365760" cy="32004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4937760" y="3246120"/>
            <a:ext cx="365760" cy="32004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49240" y="3063240"/>
            <a:ext cx="2926080" cy="8229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49240" y="3063240"/>
            <a:ext cx="137160" cy="8229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2120" y="3136392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  <a:latin typeface="Calibri"/>
              </a:rPr>
              <a:t>Environment /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342900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0B2A4A"/>
                </a:solidFill>
                <a:latin typeface="Calibri"/>
              </a:rPr>
              <a:t>Copilot pings DevOps</a:t>
            </a:r>
          </a:p>
          <a:p>
            <a:pPr algn="l"/>
            <a:r>
              <a:rPr sz="1200" b="0">
                <a:solidFill>
                  <a:srgbClr val="0B2A4A"/>
                </a:solidFill>
                <a:latin typeface="Calibri"/>
              </a:rPr>
              <a:t>+ opens infra ticket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321040" y="3291840"/>
            <a:ext cx="365760" cy="32004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4937760" y="5394960"/>
            <a:ext cx="365760" cy="32004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9240" y="5212080"/>
            <a:ext cx="2926080" cy="82296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49240" y="5212080"/>
            <a:ext cx="137160" cy="82296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32120" y="5285232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6FB5"/>
                </a:solidFill>
                <a:latin typeface="Calibri"/>
              </a:rPr>
              <a:t>Real Product Bug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55778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0B2A4A"/>
                </a:solidFill>
                <a:latin typeface="Calibri"/>
              </a:rPr>
              <a:t>Copilot creates Jira</a:t>
            </a:r>
          </a:p>
          <a:p>
            <a:pPr algn="l"/>
            <a:r>
              <a:rPr sz="1200" b="0">
                <a:solidFill>
                  <a:srgbClr val="0B2A4A"/>
                </a:solidFill>
                <a:latin typeface="Calibri"/>
              </a:rPr>
              <a:t>via Jira MCP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321040" y="5440680"/>
            <a:ext cx="365760" cy="32004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914400"/>
            <a:ext cx="2926080" cy="822960"/>
          </a:xfrm>
          <a:prstGeom prst="rect">
            <a:avLst/>
          </a:prstGeom>
          <a:solidFill>
            <a:srgbClr val="2EA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32520" y="114300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 opened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32520" y="3063240"/>
            <a:ext cx="2926080" cy="8229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32520" y="329184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Env fixed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5212080"/>
            <a:ext cx="2926080" cy="82296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2520" y="544068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Jira raised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035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555C66"/>
                </a:solidFill>
                <a:latin typeface="Calibri"/>
              </a:rPr>
              <a:t>Humans review the PR / ticket — Copilot never merges directly.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Further Enhancements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Ideas worth exploring 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6235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6FB5"/>
                </a:solidFill>
                <a:latin typeface="Calibri"/>
              </a:rPr>
              <a:t>🔔  Slack / Teams alerts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56232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B2A4A"/>
                </a:solidFill>
                <a:latin typeface="Calibri"/>
              </a:rPr>
              <a:t>Instant notification per failure with AI summary 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417320"/>
            <a:ext cx="56235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5087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6FB5"/>
                </a:solidFill>
                <a:latin typeface="Calibri"/>
              </a:rPr>
              <a:t>📱  Live dashboard 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56232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B2A4A"/>
                </a:solidFill>
                <a:latin typeface="Calibri"/>
              </a:rPr>
              <a:t>GitHub Pages site with real-time build health &amp; MTTR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6235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46888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6FB5"/>
                </a:solidFill>
                <a:latin typeface="Calibri"/>
              </a:rPr>
              <a:t>🕵️  Flaky-test detector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16352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B2A4A"/>
                </a:solidFill>
                <a:latin typeface="Calibri"/>
              </a:rPr>
              <a:t>Score tests by instability, auto-quarantine noisy 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2377440"/>
            <a:ext cx="56235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46888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6FB5"/>
                </a:solidFill>
                <a:latin typeface="Calibri"/>
              </a:rPr>
              <a:t>📊  Trend analytics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816352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B2A4A"/>
                </a:solidFill>
                <a:latin typeface="Calibri"/>
              </a:rPr>
              <a:t>Weekly/monthly MTTR, escape rate, top failing components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337560"/>
            <a:ext cx="56235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429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6FB5"/>
                </a:solidFill>
                <a:latin typeface="Calibri"/>
              </a:rPr>
              <a:t>🔗  GitHub Issue integration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76472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B2A4A"/>
                </a:solidFill>
                <a:latin typeface="Calibri"/>
              </a:rPr>
              <a:t>Auto-link investigations to related PRs &amp; commits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337560"/>
            <a:ext cx="56235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429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6FB5"/>
                </a:solidFill>
                <a:latin typeface="Calibri"/>
              </a:rPr>
              <a:t>🧪  Historical corpus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776472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B2A4A"/>
                </a:solidFill>
                <a:latin typeface="Calibri"/>
              </a:rPr>
              <a:t>Copilot searches past investigations before writing new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297680"/>
            <a:ext cx="56235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38912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6FB5"/>
                </a:solidFill>
                <a:latin typeface="Calibri"/>
              </a:rPr>
              <a:t>🌐  Multi-team rollout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36592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B2A4A"/>
                </a:solidFill>
                <a:latin typeface="Calibri"/>
              </a:rPr>
              <a:t>Onboard other QA teams — same repo pattern, own folder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4297680"/>
            <a:ext cx="56235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438912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6FB5"/>
                </a:solidFill>
                <a:latin typeface="Calibri"/>
              </a:rPr>
              <a:t>🔒  Redaction guardrails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736592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B2A4A"/>
                </a:solidFill>
                <a:latin typeface="Calibri"/>
              </a:rPr>
              <a:t>Automatic PII/secret scrubbing before writing reports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257800"/>
            <a:ext cx="56235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34924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6FB5"/>
                </a:solidFill>
                <a:latin typeface="Calibri"/>
              </a:rPr>
              <a:t>🧭  SLA tracking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696712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B2A4A"/>
                </a:solidFill>
                <a:latin typeface="Calibri"/>
              </a:rPr>
              <a:t>Age of open regressions vs. severity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5257800"/>
            <a:ext cx="56235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534924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6FB5"/>
                </a:solidFill>
                <a:latin typeface="Calibri"/>
              </a:rPr>
              <a:t>🗣️  Voice / chat interface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696712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0B2A4A"/>
                </a:solidFill>
                <a:latin typeface="Calibri"/>
              </a:rPr>
              <a:t>‘Why is build 401 failing?’ → conversational answer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FDAE8"/>
                </a:solidFill>
                <a:latin typeface="Calibri"/>
              </a:rPr>
              <a:t>From today to the vision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2194560" cy="868680"/>
          </a:xfrm>
          <a:prstGeom prst="rect">
            <a:avLst/>
          </a:prstGeom>
          <a:solidFill>
            <a:srgbClr val="2EA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36776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Now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417320"/>
            <a:ext cx="85953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45920"/>
            <a:ext cx="83210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0B2A4A"/>
                </a:solidFill>
                <a:latin typeface="Calibri"/>
              </a:rPr>
              <a:t>Repo live · 2 jobs onboarded · weekly dashboard · Monday email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50592"/>
            <a:ext cx="2194560" cy="86868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70048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Next  (Q1)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2450592"/>
            <a:ext cx="85953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2679192"/>
            <a:ext cx="83210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0B2A4A"/>
                </a:solidFill>
                <a:latin typeface="Calibri"/>
              </a:rPr>
              <a:t>Onboard remaining Jenkins jobs · Slack/Teams alerts · trend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483864"/>
            <a:ext cx="2194560" cy="8686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033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Then  (Q2)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3483864"/>
            <a:ext cx="85953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3712464"/>
            <a:ext cx="83210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0B2A4A"/>
                </a:solidFill>
                <a:latin typeface="Calibri"/>
              </a:rPr>
              <a:t>AI classifier · auto-Jira via Jira MCP · flaky-test detector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517136"/>
            <a:ext cx="2194560" cy="868680"/>
          </a:xfrm>
          <a:prstGeom prst="rect">
            <a:avLst/>
          </a:prstGeom>
          <a:solidFill>
            <a:srgbClr val="7A3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36592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Later (Q3)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517136"/>
            <a:ext cx="85953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745736"/>
            <a:ext cx="83210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0B2A4A"/>
                </a:solidFill>
                <a:latin typeface="Calibri"/>
              </a:rPr>
              <a:t>Auto-fix PRs for test-side issues · self-healing suggestions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550408"/>
            <a:ext cx="2194560" cy="86868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769864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5550408"/>
            <a:ext cx="8595360" cy="86868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5779008"/>
            <a:ext cx="83210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0B2A4A"/>
                </a:solidFill>
                <a:latin typeface="Calibri"/>
              </a:rPr>
              <a:t>Predictive analytics · MTTR SLAs · conversational triage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01968"/>
            <a:ext cx="9144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AI-Assisted Test Automation Reporting  |  Demo for 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601968"/>
            <a:ext cx="822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40480"/>
            <a:ext cx="12191695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CFDAE8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Abid Ali   |   QA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09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5A623"/>
                </a:solidFill>
                <a:latin typeface="Calibri"/>
              </a:rPr>
              <a:t>github.com/abidaliatex/test-automation-reporting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