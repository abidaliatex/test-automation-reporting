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AI-Powered Test Automation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CFDAE8"/>
                </a:solidFill>
                <a:latin typeface="Calibri"/>
              </a:rPr>
              <a:t>Turning Jenkins build failures into actionable insight — with GitHub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Prepared by: Abid Ali   |   Team: QA Automation   |   Demo for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5A623"/>
                </a:solidFill>
                <a:latin typeface="Calibri"/>
              </a:rPr>
              <a:t>Repository: abidaliatex/test-automation-reporting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FDAE8"/>
                </a:solidFill>
                <a:latin typeface="Calibri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>
                <a:solidFill>
                  <a:srgbClr val="0B2A4A"/>
                </a:solidFill>
                <a:latin typeface="Calibri"/>
              </a:rPr>
              <a:t>•  The Problem — why triaging Jenkins failures was painful</a:t>
            </a:r>
          </a:p>
          <a:p>
            <a:pPr algn="l">
              <a:spcAft>
                <a:spcPts val="400"/>
              </a:spcAft>
            </a:pPr>
            <a:r>
              <a:rPr sz="2200">
                <a:solidFill>
                  <a:srgbClr val="0B2A4A"/>
                </a:solidFill>
                <a:latin typeface="Calibri"/>
              </a:rPr>
              <a:t>•  The Solution — a Copilot-driven reporting repository</a:t>
            </a:r>
          </a:p>
          <a:p>
            <a:pPr algn="l">
              <a:spcAft>
                <a:spcPts val="400"/>
              </a:spcAft>
            </a:pPr>
            <a:r>
              <a:rPr sz="2200">
                <a:solidFill>
                  <a:srgbClr val="0B2A4A"/>
                </a:solidFill>
                <a:latin typeface="Calibri"/>
              </a:rPr>
              <a:t>•  Architecture — Jenkins × GitHub × Copilot × MCP</a:t>
            </a:r>
          </a:p>
          <a:p>
            <a:pPr algn="l">
              <a:spcAft>
                <a:spcPts val="400"/>
              </a:spcAft>
            </a:pPr>
            <a:r>
              <a:rPr sz="2200">
                <a:solidFill>
                  <a:srgbClr val="0B2A4A"/>
                </a:solidFill>
                <a:latin typeface="Calibri"/>
              </a:rPr>
              <a:t>•  What I Built — reports, investigations, dashboards</a:t>
            </a:r>
          </a:p>
          <a:p>
            <a:pPr algn="l">
              <a:spcAft>
                <a:spcPts val="400"/>
              </a:spcAft>
            </a:pPr>
            <a:r>
              <a:rPr sz="2200">
                <a:solidFill>
                  <a:srgbClr val="0B2A4A"/>
                </a:solidFill>
                <a:latin typeface="Calibri"/>
              </a:rPr>
              <a:t>•  Live Screenshots — Jenkins, investigations, HTML dashboard, weekly email</a:t>
            </a:r>
          </a:p>
          <a:p>
            <a:pPr algn="l">
              <a:spcAft>
                <a:spcPts val="400"/>
              </a:spcAft>
            </a:pPr>
            <a:r>
              <a:rPr sz="2200">
                <a:solidFill>
                  <a:srgbClr val="0B2A4A"/>
                </a:solidFill>
                <a:latin typeface="Calibri"/>
              </a:rPr>
              <a:t>•  Benefits &amp; Metrics — time saved, quality gained</a:t>
            </a:r>
          </a:p>
          <a:p>
            <a:pPr algn="l">
              <a:spcAft>
                <a:spcPts val="400"/>
              </a:spcAft>
            </a:pPr>
            <a:r>
              <a:rPr sz="2200">
                <a:solidFill>
                  <a:srgbClr val="0B2A4A"/>
                </a:solidFill>
                <a:latin typeface="Calibri"/>
              </a:rPr>
              <a:t>•  Future Goals — auto-fix, auto-Jira, Jira Test Management sync</a:t>
            </a:r>
          </a:p>
          <a:p>
            <a:pPr algn="l">
              <a:spcAft>
                <a:spcPts val="400"/>
              </a:spcAft>
            </a:pPr>
            <a:r>
              <a:rPr sz="2200">
                <a:solidFill>
                  <a:srgbClr val="0B2A4A"/>
                </a:solidFill>
                <a:latin typeface="Calibri"/>
              </a:rPr>
              <a:t>•  Further Enhancements &amp; Vision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01968"/>
            <a:ext cx="91440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AI-Assisted Test Automation Reporting  |  Demo for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601968"/>
            <a:ext cx="822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FDAE8"/>
                </a:solidFill>
                <a:latin typeface="Calibri"/>
              </a:rPr>
              <a:t>Manual triage of automation failures does not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>
                <a:solidFill>
                  <a:srgbClr val="0B2A4A"/>
                </a:solidFill>
                <a:latin typeface="Calibri"/>
              </a:rPr>
              <a:t>•  Dozens of Jenkins builds per week across multiple jobs</a:t>
            </a:r>
          </a:p>
          <a:p>
            <a:pPr algn="l">
              <a:spcAft>
                <a:spcPts val="400"/>
              </a:spcAft>
            </a:pPr>
            <a:r>
              <a:rPr sz="1700">
                <a:solidFill>
                  <a:srgbClr val="0B2A4A"/>
                </a:solidFill>
                <a:latin typeface="Calibri"/>
              </a:rPr>
              <a:t>•  Every red/unstable build required manual log reading</a:t>
            </a:r>
          </a:p>
          <a:p>
            <a:pPr algn="l">
              <a:spcAft>
                <a:spcPts val="400"/>
              </a:spcAft>
            </a:pPr>
            <a:r>
              <a:rPr sz="1700">
                <a:solidFill>
                  <a:srgbClr val="0B2A4A"/>
                </a:solidFill>
                <a:latin typeface="Calibri"/>
              </a:rPr>
              <a:t>•  Root cause hidden in hundreds of lines of stack traces</a:t>
            </a:r>
          </a:p>
          <a:p>
            <a:pPr algn="l">
              <a:spcAft>
                <a:spcPts val="400"/>
              </a:spcAft>
            </a:pPr>
            <a:r>
              <a:rPr sz="1700">
                <a:solidFill>
                  <a:srgbClr val="0B2A4A"/>
                </a:solidFill>
                <a:latin typeface="Calibri"/>
              </a:rPr>
              <a:t>•  QA engineers spent hours repeating the same triage steps</a:t>
            </a:r>
          </a:p>
          <a:p>
            <a:pPr algn="l">
              <a:spcAft>
                <a:spcPts val="400"/>
              </a:spcAft>
            </a:pPr>
            <a:r>
              <a:rPr sz="1700">
                <a:solidFill>
                  <a:srgbClr val="0B2A4A"/>
                </a:solidFill>
                <a:latin typeface="Calibri"/>
              </a:rPr>
              <a:t>•  No central history → same issues re-investigated</a:t>
            </a:r>
          </a:p>
          <a:p>
            <a:pPr algn="l">
              <a:spcAft>
                <a:spcPts val="400"/>
              </a:spcAft>
            </a:pPr>
            <a:r>
              <a:rPr sz="1700">
                <a:solidFill>
                  <a:srgbClr val="0B2A4A"/>
                </a:solidFill>
                <a:latin typeface="Calibri"/>
              </a:rPr>
              <a:t>•  Managers lacked a clear view of trends and hot-spots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1463040"/>
            <a:ext cx="4846320" cy="43891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66560" y="1463040"/>
            <a:ext cx="484632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508760"/>
            <a:ext cx="4663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Before AI Assistance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  <a:latin typeface="Calibri"/>
              </a:rPr>
              <a:t>•  ~30–45 min per failed build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  <a:latin typeface="Calibri"/>
              </a:rPr>
              <a:t>•  Knowledge lived in engineers' heads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  <a:latin typeface="Calibri"/>
              </a:rPr>
              <a:t>•  Inconsistent report formats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  <a:latin typeface="Calibri"/>
              </a:rPr>
              <a:t>•  Reactive, not proactive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601968"/>
            <a:ext cx="91440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AI-Assisted Test Automation Reporting  |  Demo for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601968"/>
            <a:ext cx="822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FDAE8"/>
                </a:solidFill>
                <a:latin typeface="Calibri"/>
              </a:rPr>
              <a:t>A Copilot-assisted reporting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555C66"/>
                </a:solidFill>
                <a:latin typeface="Calibri"/>
              </a:rPr>
              <a:t>One GitHub repo that captures every failure, explains it, and tracks it over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3657600" cy="34747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3657600" cy="45720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365760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F6FB5"/>
                </a:solidFill>
                <a:latin typeface="Calibri"/>
              </a:rPr>
              <a:t>Automated</a:t>
            </a:r>
          </a:p>
          <a:p>
            <a:pPr algn="ctr"/>
            <a:r>
              <a:rPr sz="2200" b="1">
                <a:solidFill>
                  <a:srgbClr val="1F6FB5"/>
                </a:solidFill>
                <a:latin typeface="Calibri"/>
              </a:rPr>
              <a:t>Reports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108960" cy="1554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0B2A4A"/>
                </a:solidFill>
                <a:latin typeface="Calibri"/>
              </a:rPr>
              <a:t>Every Jenkins failure creates a structured Markdown report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103120"/>
            <a:ext cx="3657600" cy="34747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2103120"/>
            <a:ext cx="3657600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697480"/>
            <a:ext cx="365760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F5A623"/>
                </a:solidFill>
                <a:latin typeface="Calibri"/>
              </a:rPr>
              <a:t>AI</a:t>
            </a:r>
          </a:p>
          <a:p>
            <a:pPr algn="ctr"/>
            <a:r>
              <a:rPr sz="2200" b="1">
                <a:solidFill>
                  <a:srgbClr val="F5A623"/>
                </a:solidFill>
                <a:latin typeface="Calibri"/>
              </a:rPr>
              <a:t>Investigations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931920"/>
            <a:ext cx="3108960" cy="1554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0B2A4A"/>
                </a:solidFill>
                <a:latin typeface="Calibri"/>
              </a:rPr>
              <a:t>Copilot writes root-cause analysis with recommended fixes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103120"/>
            <a:ext cx="3657600" cy="34747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103120"/>
            <a:ext cx="3657600" cy="457200"/>
          </a:xfrm>
          <a:prstGeom prst="rect">
            <a:avLst/>
          </a:prstGeom>
          <a:solidFill>
            <a:srgbClr val="2EA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697480"/>
            <a:ext cx="365760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2EA04F"/>
                </a:solidFill>
                <a:latin typeface="Calibri"/>
              </a:rPr>
              <a:t>Weekly</a:t>
            </a:r>
          </a:p>
          <a:p>
            <a:pPr algn="ctr"/>
            <a:r>
              <a:rPr sz="2200" b="1">
                <a:solidFill>
                  <a:srgbClr val="2EA04F"/>
                </a:solidFill>
                <a:latin typeface="Calibri"/>
              </a:rPr>
              <a:t>Dashboards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931920"/>
            <a:ext cx="3108960" cy="1554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0B2A4A"/>
                </a:solidFill>
                <a:latin typeface="Calibri"/>
              </a:rPr>
              <a:t>Recurring patterns and hot-spots surfaced automatically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601968"/>
            <a:ext cx="91440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AI-Assisted Test Automation Reporting  |  Demo for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601968"/>
            <a:ext cx="822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FDAE8"/>
                </a:solidFill>
                <a:latin typeface="Calibri"/>
              </a:rPr>
              <a:t>Jenkins → GitHub → Copilot → Reports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867" y="2377440"/>
            <a:ext cx="1965960" cy="137160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867" y="2514600"/>
            <a:ext cx="19659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Jenkins 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867" y="3017520"/>
            <a:ext cx="196596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Runs automation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jobs &amp; tests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25115" y="2880360"/>
            <a:ext cx="283464" cy="36576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26867" y="2377440"/>
            <a:ext cx="1965960" cy="1371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26867" y="2514600"/>
            <a:ext cx="19659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Jenkins MCP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6867" y="3017520"/>
            <a:ext cx="196596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Exposes build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data to Copilot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11115" y="2880360"/>
            <a:ext cx="283464" cy="36576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12867" y="2377440"/>
            <a:ext cx="1965960" cy="13716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12867" y="2514600"/>
            <a:ext cx="19659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GitHub Copilot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2867" y="3017520"/>
            <a:ext cx="196596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Reads failures,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writes analysis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97115" y="2880360"/>
            <a:ext cx="283464" cy="36576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98867" y="2377440"/>
            <a:ext cx="1965960" cy="1371600"/>
          </a:xfrm>
          <a:prstGeom prst="rect">
            <a:avLst/>
          </a:prstGeom>
          <a:solidFill>
            <a:srgbClr val="2EA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98867" y="2514600"/>
            <a:ext cx="19659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This Repo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98867" y="3017520"/>
            <a:ext cx="196596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Reports +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investigations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383115" y="2880360"/>
            <a:ext cx="283464" cy="36576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84867" y="2377440"/>
            <a:ext cx="1965960" cy="137160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84867" y="2514600"/>
            <a:ext cx="19659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Managers &amp;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Engineers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4867" y="3017520"/>
            <a:ext cx="196596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Consume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dashboards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2062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572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0B2A4A"/>
                </a:solidFill>
                <a:latin typeface="Calibri"/>
              </a:rPr>
              <a:t>•  A Jenkins build fails or turns unstable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0B2A4A"/>
                </a:solidFill>
                <a:latin typeface="Calibri"/>
              </a:rPr>
              <a:t>•  Copilot fetches build data through the Jenkins MCP server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0B2A4A"/>
                </a:solidFill>
                <a:latin typeface="Calibri"/>
              </a:rPr>
              <a:t>•  A failure report is generated: reports/build-failures/{job}/build-&lt;id&gt;.md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0B2A4A"/>
                </a:solidFill>
                <a:latin typeface="Calibri"/>
              </a:rPr>
              <a:t>•  Copilot writes a root-cause analysis: investigations/copilot-findings/{job}/build-&lt;id&gt;-analysis.md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0B2A4A"/>
                </a:solidFill>
                <a:latin typeface="Calibri"/>
              </a:rPr>
              <a:t>•  Weekly job aggregates failures into a dashboard + emails a triage summary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601968"/>
            <a:ext cx="91440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AI-Assisted Test Automation Reporting  |  Demo for Management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601968"/>
            <a:ext cx="822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What I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FDAE8"/>
                </a:solidFill>
                <a:latin typeface="Calibri"/>
              </a:rPr>
              <a:t>A clean, opinionated repository 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5943600" cy="48463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B2A4A"/>
                </a:solidFill>
                <a:latin typeface="Consolas"/>
              </a:rPr>
              <a:t>test-automation-reporting/</a:t>
            </a:r>
          </a:p>
          <a:p>
            <a:r>
              <a:rPr sz="1300">
                <a:solidFill>
                  <a:srgbClr val="0B2A4A"/>
                </a:solidFill>
                <a:latin typeface="Consolas"/>
              </a:rPr>
              <a:t>├── README.md              overview</a:t>
            </a:r>
          </a:p>
          <a:p>
            <a:r>
              <a:rPr sz="1300">
                <a:solidFill>
                  <a:srgbClr val="0B2A4A"/>
                </a:solidFill>
                <a:latin typeface="Consolas"/>
              </a:rPr>
              <a:t>├── AGENTS.md              Copilot behaviour rules</a:t>
            </a:r>
          </a:p>
          <a:p>
            <a:r>
              <a:rPr sz="1300">
                <a:solidFill>
                  <a:srgbClr val="0B2A4A"/>
                </a:solidFill>
                <a:latin typeface="Consolas"/>
              </a:rPr>
              <a:t>├── prompts/</a:t>
            </a:r>
          </a:p>
          <a:p>
            <a:r>
              <a:rPr sz="1300">
                <a:solidFill>
                  <a:srgbClr val="0B2A4A"/>
                </a:solidFill>
                <a:latin typeface="Consolas"/>
              </a:rPr>
              <a:t>│     └── jenkins-qa-triage.md   strict AI triage prompt</a:t>
            </a:r>
          </a:p>
          <a:p>
            <a:r>
              <a:rPr sz="1300">
                <a:solidFill>
                  <a:srgbClr val="0B2A4A"/>
                </a:solidFill>
                <a:latin typeface="Consolas"/>
              </a:rPr>
              <a:t>├── .github/</a:t>
            </a:r>
          </a:p>
          <a:p>
            <a:r>
              <a:rPr sz="1300">
                <a:solidFill>
                  <a:srgbClr val="0B2A4A"/>
                </a:solidFill>
                <a:latin typeface="Consolas"/>
              </a:rPr>
              <a:t>│     ├── copilot-instructions.md</a:t>
            </a:r>
          </a:p>
          <a:p>
            <a:r>
              <a:rPr sz="1300">
                <a:solidFill>
                  <a:srgbClr val="0B2A4A"/>
                </a:solidFill>
                <a:latin typeface="Consolas"/>
              </a:rPr>
              <a:t>│     ├── prompts/               reusable prompts</a:t>
            </a:r>
          </a:p>
          <a:p>
            <a:r>
              <a:rPr sz="1300">
                <a:solidFill>
                  <a:srgbClr val="0B2A4A"/>
                </a:solidFill>
                <a:latin typeface="Consolas"/>
              </a:rPr>
              <a:t>│     └── workflows/             automation workflows</a:t>
            </a:r>
          </a:p>
          <a:p>
            <a:r>
              <a:rPr sz="1300">
                <a:solidFill>
                  <a:srgbClr val="0B2A4A"/>
                </a:solidFill>
                <a:latin typeface="Consolas"/>
              </a:rPr>
              <a:t>├── reports/</a:t>
            </a:r>
          </a:p>
          <a:p>
            <a:r>
              <a:rPr sz="1300">
                <a:solidFill>
                  <a:srgbClr val="0B2A4A"/>
                </a:solidFill>
                <a:latin typeface="Consolas"/>
              </a:rPr>
              <a:t>│     └── build-failures/{job}/build-&lt;id&gt;.md</a:t>
            </a:r>
          </a:p>
          <a:p>
            <a:r>
              <a:rPr sz="1300">
                <a:solidFill>
                  <a:srgbClr val="0B2A4A"/>
                </a:solidFill>
                <a:latin typeface="Consolas"/>
              </a:rPr>
              <a:t>├── investigations/</a:t>
            </a:r>
          </a:p>
          <a:p>
            <a:r>
              <a:rPr sz="1300">
                <a:solidFill>
                  <a:srgbClr val="0B2A4A"/>
                </a:solidFill>
                <a:latin typeface="Consolas"/>
              </a:rPr>
              <a:t>│     └── copilot-findings/{job}/build-&lt;id&gt;-analysis.md</a:t>
            </a:r>
          </a:p>
          <a:p>
            <a:r>
              <a:rPr sz="1300">
                <a:solidFill>
                  <a:srgbClr val="0B2A4A"/>
                </a:solidFill>
                <a:latin typeface="Consolas"/>
              </a:rPr>
              <a:t>└── dashboards/</a:t>
            </a:r>
          </a:p>
          <a:p>
            <a:r>
              <a:rPr sz="1300">
                <a:solidFill>
                  <a:srgbClr val="0B2A4A"/>
                </a:solidFill>
                <a:latin typeface="Consolas"/>
              </a:rPr>
              <a:t>      └── weekly-summary.md / .html   trend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371600"/>
            <a:ext cx="48463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0B2A4A"/>
                </a:solidFill>
                <a:latin typeface="Calibri"/>
              </a:rPr>
              <a:t>Design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92024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0B2A4A"/>
                </a:solidFill>
                <a:latin typeface="Calibri"/>
              </a:rPr>
              <a:t>•  One report per build — never overwritten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0B2A4A"/>
                </a:solidFill>
                <a:latin typeface="Calibri"/>
              </a:rPr>
              <a:t>•  Job name is part of the folder path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0B2A4A"/>
                </a:solidFill>
                <a:latin typeface="Calibri"/>
              </a:rPr>
              <a:t>•  AGENTS.md enforces consistent AI behaviour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0B2A4A"/>
                </a:solidFill>
                <a:latin typeface="Calibri"/>
              </a:rPr>
              <a:t>•  Strict triage prompt keeps output focused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0B2A4A"/>
                </a:solidFill>
                <a:latin typeface="Calibri"/>
              </a:rPr>
              <a:t>•  Everything is Markdown → diff-friendly, searchable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0B2A4A"/>
                </a:solidFill>
                <a:latin typeface="Calibri"/>
              </a:rPr>
              <a:t>•  Workflows keep the repo tidy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601968"/>
            <a:ext cx="91440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AI-Assisted Test Automation Reporting  |  Demo for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601968"/>
            <a:ext cx="822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Live View — Jenkins Build 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FDAE8"/>
                </a:solidFill>
                <a:latin typeface="Calibri"/>
              </a:rPr>
              <a:t>Where it all starts: our Jenkins jobs and their build history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" y="1316736"/>
            <a:ext cx="7790687" cy="5047488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jenkins-build-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680959" cy="49377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458199" y="1371600"/>
            <a:ext cx="3276296" cy="493776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58199" y="1371600"/>
            <a:ext cx="3276296" cy="41148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59" y="1417320"/>
            <a:ext cx="3001976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What you're seeing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79" y="1920240"/>
            <a:ext cx="291053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0B2A4A"/>
                </a:solidFill>
                <a:latin typeface="Calibri"/>
              </a:rPr>
              <a:t>•  Nightly + SCM-triggered automation jobs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2A4A"/>
                </a:solidFill>
                <a:latin typeface="Calibri"/>
              </a:rPr>
              <a:t>•  Unstable builds since #398 — pattern begins with v88 rollout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2A4A"/>
                </a:solidFill>
                <a:latin typeface="Calibri"/>
              </a:rPr>
              <a:t>•  Last green build: #397  (2026-08-27)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2A4A"/>
                </a:solidFill>
                <a:latin typeface="Calibri"/>
              </a:rPr>
              <a:t>•  Each build number becomes an entry in this repo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2A4A"/>
                </a:solidFill>
                <a:latin typeface="Calibri"/>
              </a:rPr>
              <a:t>•  Copilot uses the Jenkins MCP server to read this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601968"/>
            <a:ext cx="91440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AI-Assisted Test Automation Reporting  |  Demo for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601968"/>
            <a:ext cx="822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Live View — AI Root-Cause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FDAE8"/>
                </a:solidFill>
                <a:latin typeface="Calibri"/>
              </a:rPr>
              <a:t>The output of Copilot for build #401 (RIALTO-B2A trunk)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" y="1316736"/>
            <a:ext cx="3636699" cy="5047488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nvestigation-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526971" cy="49377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304211" y="1371600"/>
            <a:ext cx="7430284" cy="493776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4211" y="1371600"/>
            <a:ext cx="7430284" cy="41148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1371" y="1417320"/>
            <a:ext cx="7155964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What you're seeing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7091" y="1920240"/>
            <a:ext cx="706452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0B2A4A"/>
                </a:solidFill>
                <a:latin typeface="Calibri"/>
              </a:rPr>
              <a:t>•  Generated automatically by Copilot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2A4A"/>
                </a:solidFill>
                <a:latin typeface="Calibri"/>
              </a:rPr>
              <a:t>•  Grouped by root cause, not by test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2A4A"/>
                </a:solidFill>
                <a:latin typeface="Calibri"/>
              </a:rPr>
              <a:t>•  Concrete evidence: expected vs. actual values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2A4A"/>
                </a:solidFill>
                <a:latin typeface="Calibri"/>
              </a:rPr>
              <a:t>•  Flags the exact bug (values halved → division-by-2)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2A4A"/>
                </a:solidFill>
                <a:latin typeface="Calibri"/>
              </a:rPr>
              <a:t>•  Tracks 'failed since' history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2A4A"/>
                </a:solidFill>
                <a:latin typeface="Calibri"/>
              </a:rPr>
              <a:t>•  Stored in Git — reviewable &amp; searchable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601968"/>
            <a:ext cx="91440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AI-Assisted Test Automation Reporting  |  Demo for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601968"/>
            <a:ext cx="822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Live View — Weekly HTML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FDAE8"/>
                </a:solidFill>
                <a:latin typeface="Calibri"/>
              </a:rPr>
              <a:t>Auto-generated trend report for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" y="1316736"/>
            <a:ext cx="3401568" cy="5047488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eekly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291840" cy="49377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069080" y="1371600"/>
            <a:ext cx="7665415" cy="493776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69080" y="1371600"/>
            <a:ext cx="7665415" cy="41148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417320"/>
            <a:ext cx="739109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What you're seeing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920240"/>
            <a:ext cx="72996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0B2A4A"/>
                </a:solidFill>
                <a:latin typeface="Calibri"/>
              </a:rPr>
              <a:t>•  One page, all failing jobs of the week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2A4A"/>
                </a:solidFill>
                <a:latin typeface="Calibri"/>
              </a:rPr>
              <a:t>•  Root causes ranked by impact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2A4A"/>
                </a:solidFill>
                <a:latin typeface="Calibri"/>
              </a:rPr>
              <a:t>•  Confidence + 'still active' flags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2A4A"/>
                </a:solidFill>
                <a:latin typeface="Calibri"/>
              </a:rPr>
              <a:t>•  Shareable HTML — opens in any browser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2A4A"/>
                </a:solidFill>
                <a:latin typeface="Calibri"/>
              </a:rPr>
              <a:t>•  Published every Monday morning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601968"/>
            <a:ext cx="91440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AI-Assisted Test Automation Reporting  |  Demo for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601968"/>
            <a:ext cx="822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Live View — Monday Triage Email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FDAE8"/>
                </a:solidFill>
                <a:latin typeface="Calibri"/>
              </a:rPr>
              <a:t>The weekly summary delivered straight to your inbox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" y="1316736"/>
            <a:ext cx="8339327" cy="5047488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outlook-weekly-em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599" cy="49377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006839" y="1371600"/>
            <a:ext cx="2727656" cy="493776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006839" y="1371600"/>
            <a:ext cx="2727656" cy="41148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3999" y="1417320"/>
            <a:ext cx="2453336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What you're seeing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19" y="1920240"/>
            <a:ext cx="236189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0B2A4A"/>
                </a:solidFill>
                <a:latin typeface="Calibri"/>
              </a:rPr>
              <a:t>•  Sent to QA leads, devs, and management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2A4A"/>
                </a:solidFill>
                <a:latin typeface="Calibri"/>
              </a:rPr>
              <a:t>•  Top 4–5 action items at the top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2A4A"/>
                </a:solidFill>
                <a:latin typeface="Calibri"/>
              </a:rPr>
              <a:t>•  Latest build snapshot table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2A4A"/>
                </a:solidFill>
                <a:latin typeface="Calibri"/>
              </a:rPr>
              <a:t>•  Links back to full HTML dashboard &amp; repo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2A4A"/>
                </a:solidFill>
                <a:latin typeface="Calibri"/>
              </a:rPr>
              <a:t>•  No one has to log into Jenkins to see the story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601968"/>
            <a:ext cx="91440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AI-Assisted Test Automation Reporting  |  Demo for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601968"/>
            <a:ext cx="822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By the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FDAE8"/>
                </a:solidFill>
                <a:latin typeface="Calibri"/>
              </a:rPr>
              <a:t>What the repo already contains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2743200" cy="173736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2743200" cy="109728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20"/>
            <a:ext cx="27432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000" b="1">
                <a:solidFill>
                  <a:srgbClr val="1F6FB5"/>
                </a:solidFill>
                <a:latin typeface="Calibri"/>
              </a:rPr>
              <a:t>150+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555C66"/>
                </a:solidFill>
                <a:latin typeface="Calibri"/>
              </a:rPr>
              <a:t>AI-generated investigations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1554480"/>
            <a:ext cx="2743200" cy="173736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40" y="1554480"/>
            <a:ext cx="2743200" cy="109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874520"/>
            <a:ext cx="27432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000" b="1">
                <a:solidFill>
                  <a:srgbClr val="F5A623"/>
                </a:solidFill>
                <a:latin typeface="Calibri"/>
              </a:rPr>
              <a:t>20+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69748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555C66"/>
                </a:solidFill>
                <a:latin typeface="Calibri"/>
              </a:rPr>
              <a:t>Failed builds documented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554480"/>
            <a:ext cx="2743200" cy="173736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554480"/>
            <a:ext cx="2743200" cy="109728"/>
          </a:xfrm>
          <a:prstGeom prst="rect">
            <a:avLst/>
          </a:prstGeom>
          <a:solidFill>
            <a:srgbClr val="2EA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874520"/>
            <a:ext cx="27432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000" b="1">
                <a:solidFill>
                  <a:srgbClr val="2EA04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9748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555C66"/>
                </a:solidFill>
                <a:latin typeface="Calibri"/>
              </a:rPr>
              <a:t>Jenkins jobs onboarded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64040" y="1554480"/>
            <a:ext cx="2743200" cy="173736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64040" y="1554480"/>
            <a:ext cx="2743200" cy="109728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40" y="1874520"/>
            <a:ext cx="27432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000" b="1">
                <a:solidFill>
                  <a:srgbClr val="0B2A4A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269748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555C66"/>
                </a:solidFill>
                <a:latin typeface="Calibri"/>
              </a:rPr>
              <a:t>Central source of truth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0B2A4A"/>
                </a:solidFill>
                <a:latin typeface="Calibri"/>
              </a:rPr>
              <a:t>Time &amp; Quality 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>
                <a:solidFill>
                  <a:srgbClr val="0B2A4A"/>
                </a:solidFill>
                <a:latin typeface="Calibri"/>
              </a:rPr>
              <a:t>•  Triage time per failure:  ~40 min  →  ~5 min   (≈ 85% faster)</a:t>
            </a:r>
          </a:p>
          <a:p>
            <a:pPr algn="l">
              <a:spcAft>
                <a:spcPts val="400"/>
              </a:spcAft>
            </a:pPr>
            <a:r>
              <a:rPr sz="1700">
                <a:solidFill>
                  <a:srgbClr val="0B2A4A"/>
                </a:solidFill>
                <a:latin typeface="Calibri"/>
              </a:rPr>
              <a:t>•  Consistent report format across every build — no more free-text emails</a:t>
            </a:r>
          </a:p>
          <a:p>
            <a:pPr algn="l">
              <a:spcAft>
                <a:spcPts val="400"/>
              </a:spcAft>
            </a:pPr>
            <a:r>
              <a:rPr sz="1700">
                <a:solidFill>
                  <a:srgbClr val="0B2A4A"/>
                </a:solidFill>
                <a:latin typeface="Calibri"/>
              </a:rPr>
              <a:t>•  Historical searchable trail — same failure never investigated twice</a:t>
            </a:r>
          </a:p>
          <a:p>
            <a:pPr algn="l">
              <a:spcAft>
                <a:spcPts val="400"/>
              </a:spcAft>
            </a:pPr>
            <a:r>
              <a:rPr sz="1700">
                <a:solidFill>
                  <a:srgbClr val="0B2A4A"/>
                </a:solidFill>
                <a:latin typeface="Calibri"/>
              </a:rPr>
              <a:t>•  Weekly dashboards make recurring root causes visible to leadership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601968"/>
            <a:ext cx="91440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AI-Assisted Test Automation Reporting  |  Demo for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601968"/>
            <a:ext cx="822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Why AI (Copilot)?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FDAE8"/>
                </a:solidFill>
                <a:latin typeface="Calibri"/>
              </a:rPr>
              <a:t>The right tool for the right job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F6FB5"/>
                </a:solidFill>
                <a:latin typeface="Calibri"/>
              </a:rPr>
              <a:t>What Copilot does well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  <a:latin typeface="Calibri"/>
              </a:rPr>
              <a:t>•  Reads long, noisy Jenkins logs quickly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  <a:latin typeface="Calibri"/>
              </a:rPr>
              <a:t>•  Groups failures by likely root cause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  <a:latin typeface="Calibri"/>
              </a:rPr>
              <a:t>•  Correlates errors with recent commits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  <a:latin typeface="Calibri"/>
              </a:rPr>
              <a:t>•  Writes clean, consistent Markdown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  <a:latin typeface="Calibri"/>
              </a:rPr>
              <a:t>•  Follows strict prompts (AGENTS.md + triage prompt)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  <a:latin typeface="Calibri"/>
              </a:rPr>
              <a:t>•  Improves as we refine the prompts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5A623"/>
                </a:solidFill>
                <a:latin typeface="Calibri"/>
              </a:rPr>
              <a:t>What humans still 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  <a:latin typeface="Calibri"/>
              </a:rPr>
              <a:t>•  Final validation of the fix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  <a:latin typeface="Calibri"/>
              </a:rPr>
              <a:t>•  Deciding priority and ownership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  <a:latin typeface="Calibri"/>
              </a:rPr>
              <a:t>•  Talking to dev teams and product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  <a:latin typeface="Calibri"/>
              </a:rPr>
              <a:t>•  Reviewing the AI output for accuracy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  <a:latin typeface="Calibri"/>
              </a:rPr>
              <a:t>•  Continuously improving the prompts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601968"/>
            <a:ext cx="91440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AI-Assisted Test Automation Reporting  |  Demo for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601968"/>
            <a:ext cx="822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Business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FDAE8"/>
                </a:solidFill>
                <a:latin typeface="Calibri"/>
              </a:rPr>
              <a:t>Why this matters beyond 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>
                <a:solidFill>
                  <a:srgbClr val="0B2A4A"/>
                </a:solidFill>
                <a:latin typeface="Calibri"/>
              </a:rPr>
              <a:t>•  Faster feedback loop — devs learn about regressions in minutes, not days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0B2A4A"/>
                </a:solidFill>
                <a:latin typeface="Calibri"/>
              </a:rPr>
              <a:t>•  Lower cost of quality — engineers spend time fixing, not searching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0B2A4A"/>
                </a:solidFill>
                <a:latin typeface="Calibri"/>
              </a:rPr>
              <a:t>•  Transparency — every failure has a traceable report and analysis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0B2A4A"/>
                </a:solidFill>
                <a:latin typeface="Calibri"/>
              </a:rPr>
              <a:t>•  Better decisions — dashboards show where to invest QA effort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0B2A4A"/>
                </a:solidFill>
                <a:latin typeface="Calibri"/>
              </a:rPr>
              <a:t>•  Knowledge retention — nothing is lost when team members change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0B2A4A"/>
                </a:solidFill>
                <a:latin typeface="Calibri"/>
              </a:rPr>
              <a:t>•  Scalable — adding a new Jenkins job means one folder, no new process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0B2A4A"/>
                </a:solidFill>
                <a:latin typeface="Calibri"/>
              </a:rPr>
              <a:t>•  Foundation for further automation — auto-Jira, auto-Slack, auto-fix bots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01968"/>
            <a:ext cx="91440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AI-Assisted Test Automation Reporting  |  Demo for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601968"/>
            <a:ext cx="822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Future 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FDAE8"/>
                </a:solidFill>
                <a:latin typeface="Calibri"/>
              </a:rPr>
              <a:t>From reporting → to auto-remediation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623560" cy="23774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623560" cy="502920"/>
          </a:xfrm>
          <a:prstGeom prst="rect">
            <a:avLst/>
          </a:prstGeom>
          <a:solidFill>
            <a:srgbClr val="2EA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44752"/>
            <a:ext cx="5257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🔧  Auto-Fix Automation Issues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57400"/>
            <a:ext cx="5166360" cy="1600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B2A4A"/>
                </a:solidFill>
                <a:latin typeface="Calibri"/>
              </a:rPr>
              <a:t>When failure is a test-code or config issue, Copilot opens a PR against the automation repo with the fix — reviewed by QA, merged, re-run.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623560" cy="23774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623560" cy="50292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44752"/>
            <a:ext cx="5257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📝  Auto-Create Jira (via Jira MCP)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57400"/>
            <a:ext cx="5166360" cy="1600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B2A4A"/>
                </a:solidFill>
                <a:latin typeface="Calibri"/>
              </a:rPr>
              <a:t>When failure is a product bug, Copilot uses the Jira MCP server to open a ticket with root cause, evidence, affected scenarios, severity &amp; component.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86200"/>
            <a:ext cx="5623560" cy="23774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886200"/>
            <a:ext cx="5623560" cy="502920"/>
          </a:xfrm>
          <a:prstGeom prst="rect">
            <a:avLst/>
          </a:prstGeom>
          <a:solidFill>
            <a:srgbClr val="7A3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59352"/>
            <a:ext cx="5257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🧠  Smart Classifier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572000"/>
            <a:ext cx="5166360" cy="1600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B2A4A"/>
                </a:solidFill>
                <a:latin typeface="Calibri"/>
              </a:rPr>
              <a:t>First step in the pipeline: is this a test issue, an env issue, or a real product bug? Decides whether to auto-fix, auto-Jira, or escalate.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886200"/>
            <a:ext cx="5623560" cy="23774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886200"/>
            <a:ext cx="562356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959352"/>
            <a:ext cx="5257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♻️  Self-Healing 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572000"/>
            <a:ext cx="5166360" cy="1600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B2A4A"/>
                </a:solidFill>
                <a:latin typeface="Calibri"/>
              </a:rPr>
              <a:t>For known flaky patterns (timing, ordering, data), Copilot proposes locators, waits, or retries and validates the fix in a scratch build.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601968"/>
            <a:ext cx="91440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AI-Assisted Test Automation Reporting  |  Demo for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601968"/>
            <a:ext cx="822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Future Goal — Jira Test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FDAE8"/>
                </a:solidFill>
                <a:latin typeface="Calibri"/>
              </a:rPr>
              <a:t>Close the loop between automation runs and the test-management tool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623560" cy="493776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623560" cy="50292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44752"/>
            <a:ext cx="5486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🧪  Sync with Jira Test Management (Xray / Zephyr)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0B2A4A"/>
                </a:solidFill>
                <a:latin typeface="Calibri"/>
              </a:rPr>
              <a:t>•  Every automated test case in Jenkins maps to a Jira Test in Xray / Zephyr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0B2A4A"/>
                </a:solidFill>
                <a:latin typeface="Calibri"/>
              </a:rPr>
              <a:t>•  After each build, Copilot pushes execution results into a Jira Test Cycle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0B2A4A"/>
                </a:solidFill>
                <a:latin typeface="Calibri"/>
              </a:rPr>
              <a:t>•  Failing tests are auto-linked to the Jira bug created from the failure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0B2A4A"/>
                </a:solidFill>
                <a:latin typeface="Calibri"/>
              </a:rPr>
              <a:t>•  Traceability: Requirement → Test → Execution → Defect, end-to-end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0B2A4A"/>
                </a:solidFill>
                <a:latin typeface="Calibri"/>
              </a:rPr>
              <a:t>•  Test-manager sees pass/fail trends inside Jira, not just Jenkins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0B2A4A"/>
                </a:solidFill>
                <a:latin typeface="Calibri"/>
              </a:rPr>
              <a:t>•  Manual + automated coverage visible on one dashboard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0B2A4A"/>
                </a:solidFill>
                <a:latin typeface="Calibri"/>
              </a:rPr>
              <a:t>•  Uses the Jira / Xray MCP server — no custom REST plumbing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How it fits together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965960"/>
            <a:ext cx="2194560" cy="68580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39696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Jenkins build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32520" y="1965960"/>
            <a:ext cx="2971800" cy="6858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2167128"/>
            <a:ext cx="2788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  <a:latin typeface="Calibri"/>
              </a:rPr>
              <a:t>Runs automation suite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7360920" y="2656332"/>
            <a:ext cx="274320" cy="109728"/>
          </a:xfrm>
          <a:prstGeom prst="down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761488"/>
            <a:ext cx="2194560" cy="685800"/>
          </a:xfrm>
          <a:prstGeom prst="rect">
            <a:avLst/>
          </a:prstGeom>
          <a:solidFill>
            <a:srgbClr val="2EA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935224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This repo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32520" y="2761488"/>
            <a:ext cx="2971800" cy="6858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2962656"/>
            <a:ext cx="2788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  <a:latin typeface="Calibri"/>
              </a:rPr>
              <a:t>Structured results + AI analysis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7360920" y="3451860"/>
            <a:ext cx="274320" cy="109728"/>
          </a:xfrm>
          <a:prstGeom prst="down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3557016"/>
            <a:ext cx="2194560" cy="68580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730752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Jira Test Management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32520" y="3557016"/>
            <a:ext cx="2971800" cy="6858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0" y="3758184"/>
            <a:ext cx="2788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  <a:latin typeface="Calibri"/>
              </a:rPr>
              <a:t>Test cycle updated (Xray / Zephyr)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7360920" y="4247388"/>
            <a:ext cx="274320" cy="109728"/>
          </a:xfrm>
          <a:prstGeom prst="down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4352544"/>
            <a:ext cx="2194560" cy="685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52628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Jira bug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32520" y="4352544"/>
            <a:ext cx="2971800" cy="6858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0" y="4553712"/>
            <a:ext cx="2788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  <a:latin typeface="Calibri"/>
              </a:rPr>
              <a:t>Auto-linked to the failed test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7360920" y="5042916"/>
            <a:ext cx="274320" cy="109728"/>
          </a:xfrm>
          <a:prstGeom prst="down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5148072"/>
            <a:ext cx="2194560" cy="685800"/>
          </a:xfrm>
          <a:prstGeom prst="rect">
            <a:avLst/>
          </a:prstGeom>
          <a:solidFill>
            <a:srgbClr val="7A3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5321808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Requirement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32520" y="5148072"/>
            <a:ext cx="2971800" cy="6858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5349240"/>
            <a:ext cx="2788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  <a:latin typeface="Calibri"/>
              </a:rPr>
              <a:t>Traceability chain complete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601968"/>
            <a:ext cx="91440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AI-Assisted Test Automation Reporting  |  Demo for Management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601968"/>
            <a:ext cx="822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Future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FDAE8"/>
                </a:solidFill>
                <a:latin typeface="Calibri"/>
              </a:rPr>
              <a:t>What happens automatically after a failure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737360" cy="1005840"/>
          </a:xfrm>
          <a:prstGeom prst="rect">
            <a:avLst/>
          </a:prstGeom>
          <a:solidFill>
            <a:srgbClr val="C9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17373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Build Fails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40280" y="2148840"/>
            <a:ext cx="365760" cy="36576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97480" y="1828800"/>
            <a:ext cx="2194560" cy="1005840"/>
          </a:xfrm>
          <a:prstGeom prst="rect">
            <a:avLst/>
          </a:prstGeom>
          <a:solidFill>
            <a:srgbClr val="7A3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1965960"/>
            <a:ext cx="219456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AI Classifier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(Copilot)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37760" y="868680"/>
            <a:ext cx="365760" cy="27432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49240" y="731520"/>
            <a:ext cx="2926080" cy="6858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49240" y="731520"/>
            <a:ext cx="137160" cy="685800"/>
          </a:xfrm>
          <a:prstGeom prst="rect">
            <a:avLst/>
          </a:prstGeom>
          <a:solidFill>
            <a:srgbClr val="2EA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32120" y="768096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EA04F"/>
                </a:solidFill>
                <a:latin typeface="Calibri"/>
              </a:rPr>
              <a:t>Test / Framework Issue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00584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  <a:latin typeface="Calibri"/>
              </a:rPr>
              <a:t>Copilot opens PR</a:t>
            </a:r>
          </a:p>
          <a:p>
            <a:pPr algn="l"/>
            <a:r>
              <a:rPr sz="1100" b="0">
                <a:solidFill>
                  <a:srgbClr val="0B2A4A"/>
                </a:solidFill>
                <a:latin typeface="Calibri"/>
              </a:rPr>
              <a:t>in automation repo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321040" y="914400"/>
            <a:ext cx="365760" cy="27432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4937760" y="2514600"/>
            <a:ext cx="365760" cy="27432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49240" y="2377440"/>
            <a:ext cx="2926080" cy="6858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49240" y="2377440"/>
            <a:ext cx="137160" cy="685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32120" y="2414016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Calibri"/>
              </a:rPr>
              <a:t>Environment /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265176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  <a:latin typeface="Calibri"/>
              </a:rPr>
              <a:t>Copilot pings DevOps</a:t>
            </a:r>
          </a:p>
          <a:p>
            <a:pPr algn="l"/>
            <a:r>
              <a:rPr sz="1100" b="0">
                <a:solidFill>
                  <a:srgbClr val="0B2A4A"/>
                </a:solidFill>
                <a:latin typeface="Calibri"/>
              </a:rPr>
              <a:t>+ opens infra ticket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321040" y="2560320"/>
            <a:ext cx="365760" cy="27432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4937760" y="4160520"/>
            <a:ext cx="365760" cy="27432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49240" y="4023360"/>
            <a:ext cx="2926080" cy="6858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49240" y="4023360"/>
            <a:ext cx="137160" cy="68580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32120" y="4059936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F6FB5"/>
                </a:solidFill>
                <a:latin typeface="Calibri"/>
              </a:rPr>
              <a:t>Real Product Bug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429768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  <a:latin typeface="Calibri"/>
              </a:rPr>
              <a:t>Copilot creates Jira</a:t>
            </a:r>
          </a:p>
          <a:p>
            <a:pPr algn="l"/>
            <a:r>
              <a:rPr sz="1100" b="0">
                <a:solidFill>
                  <a:srgbClr val="0B2A4A"/>
                </a:solidFill>
                <a:latin typeface="Calibri"/>
              </a:rPr>
              <a:t>via Jira MCP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321040" y="4206240"/>
            <a:ext cx="365760" cy="27432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4937760" y="5806440"/>
            <a:ext cx="365760" cy="27432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49240" y="5669280"/>
            <a:ext cx="2926080" cy="6858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49240" y="5669280"/>
            <a:ext cx="137160" cy="68580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32120" y="5705856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8B8D"/>
                </a:solidFill>
                <a:latin typeface="Calibri"/>
              </a:rPr>
              <a:t>Test Coverage Update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2120" y="594360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  <a:latin typeface="Calibri"/>
              </a:rPr>
              <a:t>Copilot syncs results</a:t>
            </a:r>
          </a:p>
          <a:p>
            <a:pPr algn="l"/>
            <a:r>
              <a:rPr sz="1100" b="0">
                <a:solidFill>
                  <a:srgbClr val="0B2A4A"/>
                </a:solidFill>
                <a:latin typeface="Calibri"/>
              </a:rPr>
              <a:t>to Jira Test Mgmt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321040" y="5852160"/>
            <a:ext cx="365760" cy="27432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732520" y="731520"/>
            <a:ext cx="2926080" cy="685800"/>
          </a:xfrm>
          <a:prstGeom prst="rect">
            <a:avLst/>
          </a:prstGeom>
          <a:solidFill>
            <a:srgbClr val="2EA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32520" y="896112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 opened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32520" y="2377440"/>
            <a:ext cx="2926080" cy="685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32520" y="2542032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Env fixed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32520" y="4023360"/>
            <a:ext cx="2926080" cy="68580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32520" y="4187952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Jira raised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32520" y="5669280"/>
            <a:ext cx="2926080" cy="68580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20" y="5833872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Xray updated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46520"/>
            <a:ext cx="10972800" cy="137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555C66"/>
                </a:solidFill>
                <a:latin typeface="Calibri"/>
              </a:rPr>
              <a:t>Humans review the PR / ticket — Copilot never merges directly.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6601968"/>
            <a:ext cx="91440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AI-Assisted Test Automation Reporting  |  Demo for Management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6601968"/>
            <a:ext cx="822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Further Enhancements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FDAE8"/>
                </a:solidFill>
                <a:latin typeface="Calibri"/>
              </a:rPr>
              <a:t>Ideas worth exploring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623560" cy="86868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F6FB5"/>
                </a:solidFill>
                <a:latin typeface="Calibri"/>
              </a:rPr>
              <a:t>🔔  Slack / Teams alerts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  <a:latin typeface="Calibri"/>
              </a:rPr>
              <a:t>Instant notification per failure with AI summary link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417320"/>
            <a:ext cx="5623560" cy="86868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50876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F6FB5"/>
                </a:solidFill>
                <a:latin typeface="Calibri"/>
              </a:rPr>
              <a:t>📱  Live dashboard 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856232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  <a:latin typeface="Calibri"/>
              </a:rPr>
              <a:t>GitHub Pages site with real-time build health &amp; MTTR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5623560" cy="86868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6888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F6FB5"/>
                </a:solidFill>
                <a:latin typeface="Calibri"/>
              </a:rPr>
              <a:t>🕵️  Flaky-test detector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816352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  <a:latin typeface="Calibri"/>
              </a:rPr>
              <a:t>Score tests by instability, auto-quarantine noisy ones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2377440"/>
            <a:ext cx="5623560" cy="86868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46888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F6FB5"/>
                </a:solidFill>
                <a:latin typeface="Calibri"/>
              </a:rPr>
              <a:t>📊  Trend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816352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  <a:latin typeface="Calibri"/>
              </a:rPr>
              <a:t>MTTR, escape rate, top failing components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337560"/>
            <a:ext cx="5623560" cy="86868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42900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F6FB5"/>
                </a:solidFill>
                <a:latin typeface="Calibri"/>
              </a:rPr>
              <a:t>🔗  GitHub Issue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76472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  <a:latin typeface="Calibri"/>
              </a:rPr>
              <a:t>Auto-link investigations to related PRs &amp; commits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3337560"/>
            <a:ext cx="5623560" cy="86868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42900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F6FB5"/>
                </a:solidFill>
                <a:latin typeface="Calibri"/>
              </a:rPr>
              <a:t>🧪  Xray / Zephyr sync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776472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  <a:latin typeface="Calibri"/>
              </a:rPr>
              <a:t>Push automation results into Jira Test Management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297680"/>
            <a:ext cx="5623560" cy="86868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38912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F6FB5"/>
                </a:solidFill>
                <a:latin typeface="Calibri"/>
              </a:rPr>
              <a:t>🧠  Historical corpus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736592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  <a:latin typeface="Calibri"/>
              </a:rPr>
              <a:t>Copilot searches past investigations before writing new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4297680"/>
            <a:ext cx="5623560" cy="86868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438912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F6FB5"/>
                </a:solidFill>
                <a:latin typeface="Calibri"/>
              </a:rPr>
              <a:t>🌐  Multi-team rollout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736592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  <a:latin typeface="Calibri"/>
              </a:rPr>
              <a:t>Onboard other QA teams — same repo pattern, own folder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257800"/>
            <a:ext cx="5623560" cy="86868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34924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F6FB5"/>
                </a:solidFill>
                <a:latin typeface="Calibri"/>
              </a:rPr>
              <a:t>🔒  Redaction guardrails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696712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  <a:latin typeface="Calibri"/>
              </a:rPr>
              <a:t>Automatic PII/secret scrubbing before writing reports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5257800"/>
            <a:ext cx="5623560" cy="86868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534924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F6FB5"/>
                </a:solidFill>
                <a:latin typeface="Calibri"/>
              </a:rPr>
              <a:t>🗣️  Conversational triage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5696712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  <a:latin typeface="Calibri"/>
              </a:rPr>
              <a:t>'Why is build 401 failing?' → chat answer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601968"/>
            <a:ext cx="91440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AI-Assisted Test Automation Reporting  |  Demo for Management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601968"/>
            <a:ext cx="822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FDAE8"/>
                </a:solidFill>
                <a:latin typeface="Calibri"/>
              </a:rPr>
              <a:t>From today to the 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2194560" cy="868680"/>
          </a:xfrm>
          <a:prstGeom prst="rect">
            <a:avLst/>
          </a:prstGeom>
          <a:solidFill>
            <a:srgbClr val="2EA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36776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Now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417320"/>
            <a:ext cx="8595360" cy="86868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645920"/>
            <a:ext cx="83210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0B2A4A"/>
                </a:solidFill>
                <a:latin typeface="Calibri"/>
              </a:rPr>
              <a:t>Repo live · 2 jobs onboarded · weekly dashboard · Monday email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450592"/>
            <a:ext cx="2194560" cy="86868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70048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Next  (Q1)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450592"/>
            <a:ext cx="8595360" cy="86868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2679192"/>
            <a:ext cx="83210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0B2A4A"/>
                </a:solidFill>
                <a:latin typeface="Calibri"/>
              </a:rPr>
              <a:t>Onboard remaining Jenkins jobs · Slack/Teams alerts · trend site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483864"/>
            <a:ext cx="2194560" cy="86868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03320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Then  (Q2)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3483864"/>
            <a:ext cx="8595360" cy="86868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0" y="3712464"/>
            <a:ext cx="83210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0B2A4A"/>
                </a:solidFill>
                <a:latin typeface="Calibri"/>
              </a:rPr>
              <a:t>AI classifier · auto-Jira via Jira MCP · Xray / Zephyr sync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517136"/>
            <a:ext cx="2194560" cy="868680"/>
          </a:xfrm>
          <a:prstGeom prst="rect">
            <a:avLst/>
          </a:prstGeom>
          <a:solidFill>
            <a:srgbClr val="7A3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736592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Later (Q3)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4517136"/>
            <a:ext cx="8595360" cy="86868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4745736"/>
            <a:ext cx="83210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0B2A4A"/>
                </a:solidFill>
                <a:latin typeface="Calibri"/>
              </a:rPr>
              <a:t>Auto-fix PRs for test-side issues · self-healing suggestions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550408"/>
            <a:ext cx="2194560" cy="8686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769864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Vision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5550408"/>
            <a:ext cx="8595360" cy="86868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5779008"/>
            <a:ext cx="83210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0B2A4A"/>
                </a:solidFill>
                <a:latin typeface="Calibri"/>
              </a:rPr>
              <a:t>Predictive analytics · MTTR SLAs · conversational triage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601968"/>
            <a:ext cx="91440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AI-Assisted Test Automation Reporting  |  Demo for Management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601968"/>
            <a:ext cx="822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840480"/>
            <a:ext cx="12191695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CFDAE8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Abid Ali   |   QA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091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F5A623"/>
                </a:solidFill>
                <a:latin typeface="Calibri"/>
              </a:rPr>
              <a:t>github.com/abidaliatex/test-automation-reporting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