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0B3D91"/>
                </a:solidFill>
              </a:rPr>
              <a:t>Recent build result mix (test counts)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Passed</c:v>
                </c:pt>
              </c:strCache>
            </c:strRef>
          </c:tx>
          <c:spPr>
            <a:solidFill>
              <a:srgbClr val="2EA043"/>
            </a:solidFill>
          </c:spPr>
          <c:cat>
            <c:strRef>
              <c:f>Sheet1!$A$2:$A$6</c:f>
              <c:strCache>
                <c:ptCount val="5"/>
                <c:pt idx="0">
                  <c:v>B2A-trunk
#401</c:v>
                </c:pt>
                <c:pt idx="1">
                  <c:v>B2C-8.7.x
#97</c:v>
                </c:pt>
                <c:pt idx="2">
                  <c:v>Internal-trunk
#187</c:v>
                </c:pt>
                <c:pt idx="3">
                  <c:v>Internal-demo
#512</c:v>
                </c:pt>
                <c:pt idx="4">
                  <c:v>AI-Pipeline
#259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</c:v>
                </c:pt>
                <c:pt idx="1">
                  <c:v>12</c:v>
                </c:pt>
                <c:pt idx="2">
                  <c:v>140</c:v>
                </c:pt>
                <c:pt idx="3">
                  <c:v>380</c:v>
                </c:pt>
                <c:pt idx="4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Failed</c:v>
                </c:pt>
              </c:strCache>
            </c:strRef>
          </c:tx>
          <c:spPr>
            <a:solidFill>
              <a:srgbClr val="CC1F2E"/>
            </a:solidFill>
          </c:spPr>
          <c:cat>
            <c:strRef>
              <c:f>Sheet1!$A$2:$A$6</c:f>
              <c:strCache>
                <c:ptCount val="5"/>
                <c:pt idx="0">
                  <c:v>B2A-trunk
#401</c:v>
                </c:pt>
                <c:pt idx="1">
                  <c:v>B2C-8.7.x
#97</c:v>
                </c:pt>
                <c:pt idx="2">
                  <c:v>Internal-trunk
#187</c:v>
                </c:pt>
                <c:pt idx="3">
                  <c:v>Internal-demo
#512</c:v>
                </c:pt>
                <c:pt idx="4">
                  <c:v>AI-Pipeline
#259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18</c:v>
                </c:pt>
                <c:pt idx="3">
                  <c:v>22</c:v>
                </c:pt>
                <c:pt idx="4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Skipped</c:v>
                </c:pt>
              </c:strCache>
            </c:strRef>
          </c:tx>
          <c:spPr>
            <a:solidFill>
              <a:srgbClr val="E08A00"/>
            </a:solidFill>
          </c:spPr>
          <c:cat>
            <c:strRef>
              <c:f>Sheet1!$A$2:$A$6</c:f>
              <c:strCache>
                <c:ptCount val="5"/>
                <c:pt idx="0">
                  <c:v>B2A-trunk
#401</c:v>
                </c:pt>
                <c:pt idx="1">
                  <c:v>B2C-8.7.x
#97</c:v>
                </c:pt>
                <c:pt idx="2">
                  <c:v>Internal-trunk
#187</c:v>
                </c:pt>
                <c:pt idx="3">
                  <c:v>Internal-demo
#512</c:v>
                </c:pt>
                <c:pt idx="4">
                  <c:v>AI-Pipeline
#259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4</c:v>
                </c:pt>
                <c:pt idx="3">
                  <c:v>6</c:v>
                </c:pt>
                <c:pt idx="4">
                  <c:v>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49240"/>
            <a:ext cx="12191695" cy="73152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0A6D6"/>
                </a:solidFill>
                <a:latin typeface="Calibri"/>
              </a:rPr>
              <a:t>QA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Managing Automation Builds</a:t>
            </a:r>
          </a:p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for Rialto Advertising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23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Trunk  •  8.7.x  •  8.6.x  •  Rialto Internal Integration  •  AI-Assisted Pipelines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Presented by: QA Automation Lead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7D4E6"/>
                </a:solidFill>
                <a:latin typeface="Calibri"/>
              </a:rPr>
              <a:t>Snapshot date: 10 September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580644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atex  |  Rialto QA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555F77"/>
                </a:solidFill>
                <a:latin typeface="Calibri"/>
              </a:rPr>
              <a:t>What we will cover in this session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097280" cy="54864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645920"/>
            <a:ext cx="457200" cy="457200"/>
          </a:xfrm>
          <a:prstGeom prst="ellipse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69164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Calibri"/>
              </a:rPr>
              <a:t>The QA automation landscape at Atex Rialto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194560"/>
            <a:ext cx="457200" cy="457200"/>
          </a:xfrm>
          <a:prstGeom prst="ellipse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4028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Calibri"/>
              </a:rPr>
              <a:t>Pipelines under management — Trunk, 8.7.x, 8.6.x and Rialto Internal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2743200"/>
            <a:ext cx="457200" cy="457200"/>
          </a:xfrm>
          <a:prstGeom prst="ellipse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78892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78892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Calibri"/>
              </a:rPr>
              <a:t>How I manage the builds day-to-day (workflow &amp; tooling)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3291839"/>
            <a:ext cx="457200" cy="457200"/>
          </a:xfrm>
          <a:prstGeom prst="ellipse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337559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337559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Calibri"/>
              </a:rPr>
              <a:t>AI-assisted build triage &amp; reporting pipeline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3840480"/>
            <a:ext cx="457200" cy="457200"/>
          </a:xfrm>
          <a:prstGeom prst="ellipse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8620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88620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Calibri"/>
              </a:rPr>
              <a:t>Key metrics &amp; recent build snapshot from Jenkins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4389120"/>
            <a:ext cx="457200" cy="457200"/>
          </a:xfrm>
          <a:prstGeom prst="ellipse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43484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43484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Calibri"/>
              </a:rPr>
              <a:t>Benefits delivered to the team &amp; to the business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4937759"/>
            <a:ext cx="457200" cy="457200"/>
          </a:xfrm>
          <a:prstGeom prst="ellipse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983479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983479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Calibri"/>
              </a:rPr>
              <a:t>Roadmap and next steps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55F77"/>
                </a:solidFill>
                <a:latin typeface="Calibri"/>
              </a:rPr>
              <a:t>Automation Build Management  |  QA Rialto  |  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55F77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The QA Automation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555F77"/>
                </a:solidFill>
                <a:latin typeface="Calibri"/>
              </a:rPr>
              <a:t>A multi-version, multi-layer test estate on Jenkins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097280" cy="54864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2743200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2743200" cy="54864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Trunk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2377440" cy="3657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Calibri"/>
              </a:rPr>
              <a:t>Latest development line</a:t>
            </a:r>
          </a:p>
          <a:p>
            <a:pPr algn="l"/>
            <a:r>
              <a:rPr sz="1200" b="0">
                <a:solidFill>
                  <a:srgbClr val="1F2A44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1F2A44"/>
                </a:solidFill>
                <a:latin typeface="Calibri"/>
              </a:rPr>
              <a:t>• RIALTO B2A (CASS) APIs</a:t>
            </a:r>
          </a:p>
          <a:p>
            <a:pPr algn="l"/>
            <a:r>
              <a:rPr sz="1200" b="0">
                <a:solidFill>
                  <a:srgbClr val="1F2A44"/>
                </a:solidFill>
                <a:latin typeface="Calibri"/>
              </a:rPr>
              <a:t>• RIALTO B2C APIs</a:t>
            </a:r>
          </a:p>
          <a:p>
            <a:pPr algn="l"/>
            <a:r>
              <a:rPr sz="1200" b="0">
                <a:solidFill>
                  <a:srgbClr val="1F2A44"/>
                </a:solidFill>
                <a:latin typeface="Calibri"/>
              </a:rPr>
              <a:t>• Web B2A E2E</a:t>
            </a:r>
          </a:p>
          <a:p>
            <a:pPr algn="l"/>
            <a:r>
              <a:rPr sz="1200" b="0">
                <a:solidFill>
                  <a:srgbClr val="1F2A44"/>
                </a:solidFill>
                <a:latin typeface="Calibri"/>
              </a:rPr>
              <a:t>• MediaHouse &amp; AgencyBackend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554480"/>
            <a:ext cx="2743200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554480"/>
            <a:ext cx="2743200" cy="548640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64592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Release 8.7.x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286000"/>
            <a:ext cx="2377440" cy="3657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Calibri"/>
              </a:rPr>
              <a:t>Current release branch</a:t>
            </a:r>
          </a:p>
          <a:p>
            <a:pPr algn="l"/>
            <a:r>
              <a:rPr sz="1200" b="0">
                <a:solidFill>
                  <a:srgbClr val="1F2A44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1F2A44"/>
                </a:solidFill>
                <a:latin typeface="Calibri"/>
              </a:rPr>
              <a:t>• RIALTO B2C APIs 8.7.x</a:t>
            </a:r>
          </a:p>
          <a:p>
            <a:pPr algn="l"/>
            <a:r>
              <a:rPr sz="1200" b="0">
                <a:solidFill>
                  <a:srgbClr val="1F2A44"/>
                </a:solidFill>
                <a:latin typeface="Calibri"/>
              </a:rPr>
              <a:t>• Web B2A E2E 8.7.x</a:t>
            </a:r>
          </a:p>
          <a:p>
            <a:pPr algn="l"/>
            <a:r>
              <a:rPr sz="1200" b="0">
                <a:solidFill>
                  <a:srgbClr val="1F2A44"/>
                </a:solidFill>
                <a:latin typeface="Calibri"/>
              </a:rPr>
              <a:t>• B2A RIALTOMAIN 8.7.x</a:t>
            </a:r>
          </a:p>
          <a:p>
            <a:pPr algn="l"/>
            <a:r>
              <a:rPr sz="1200" b="0">
                <a:solidFill>
                  <a:srgbClr val="1F2A44"/>
                </a:solidFill>
                <a:latin typeface="Calibri"/>
              </a:rPr>
              <a:t>• MediaHouse 8.7.x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554480"/>
            <a:ext cx="2743200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554480"/>
            <a:ext cx="2743200" cy="54864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64592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Release 8.6.x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286000"/>
            <a:ext cx="2377440" cy="3657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Calibri"/>
              </a:rPr>
              <a:t>LTS / supported branch</a:t>
            </a:r>
          </a:p>
          <a:p>
            <a:pPr algn="l"/>
            <a:r>
              <a:rPr sz="1200" b="0">
                <a:solidFill>
                  <a:srgbClr val="1F2A44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1F2A44"/>
                </a:solidFill>
                <a:latin typeface="Calibri"/>
              </a:rPr>
              <a:t>• RIALTO B2A 8.6.x</a:t>
            </a:r>
          </a:p>
          <a:p>
            <a:pPr algn="l"/>
            <a:r>
              <a:rPr sz="1200" b="0">
                <a:solidFill>
                  <a:srgbClr val="1F2A44"/>
                </a:solidFill>
                <a:latin typeface="Calibri"/>
              </a:rPr>
              <a:t>• RIALTO B2C 8.6.x</a:t>
            </a:r>
          </a:p>
          <a:p>
            <a:pPr algn="l"/>
            <a:r>
              <a:rPr sz="1200" b="0">
                <a:solidFill>
                  <a:srgbClr val="1F2A44"/>
                </a:solidFill>
                <a:latin typeface="Calibri"/>
              </a:rPr>
              <a:t>• Web B2A 8.6.x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554480"/>
            <a:ext cx="2743200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1554480"/>
            <a:ext cx="2743200" cy="548640"/>
          </a:xfrm>
          <a:prstGeom prst="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64592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Rialto Internal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2286000"/>
            <a:ext cx="2377440" cy="3657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Calibri"/>
              </a:rPr>
              <a:t>Cross-version integration</a:t>
            </a:r>
          </a:p>
          <a:p>
            <a:pPr algn="l"/>
            <a:r>
              <a:rPr sz="1200" b="0">
                <a:solidFill>
                  <a:srgbClr val="1F2A44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1F2A44"/>
                </a:solidFill>
                <a:latin typeface="Calibri"/>
              </a:rPr>
              <a:t>• B2A Integration Testing</a:t>
            </a:r>
          </a:p>
          <a:p>
            <a:pPr algn="l"/>
            <a:r>
              <a:rPr sz="1200" b="0">
                <a:solidFill>
                  <a:srgbClr val="1F2A44"/>
                </a:solidFill>
                <a:latin typeface="Calibri"/>
              </a:rPr>
              <a:t>  Internal – trunk</a:t>
            </a:r>
          </a:p>
          <a:p>
            <a:pPr algn="l"/>
            <a:r>
              <a:rPr sz="1200" b="0">
                <a:solidFill>
                  <a:srgbClr val="1F2A44"/>
                </a:solidFill>
                <a:latin typeface="Calibri"/>
              </a:rPr>
              <a:t>• Internal – trunk demo</a:t>
            </a:r>
          </a:p>
          <a:p>
            <a:pPr algn="l"/>
            <a:r>
              <a:rPr sz="1200" b="0">
                <a:solidFill>
                  <a:srgbClr val="1F2A44"/>
                </a:solidFill>
                <a:latin typeface="Calibri"/>
              </a:rPr>
              <a:t>• AgencyBE8.7 × MH-8.6</a:t>
            </a:r>
          </a:p>
          <a:p>
            <a:pPr algn="l"/>
            <a:r>
              <a:rPr sz="1200" b="0">
                <a:solidFill>
                  <a:srgbClr val="1F2A44"/>
                </a:solidFill>
                <a:latin typeface="Calibri"/>
              </a:rPr>
              <a:t>  compatibility runs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555F77"/>
                </a:solidFill>
                <a:latin typeface="Calibri"/>
              </a:rPr>
              <a:t>Over 25 Jenkins pipelines actively managed across API, Web-UI and integration layers.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55F77"/>
                </a:solidFill>
                <a:latin typeface="Calibri"/>
              </a:rPr>
              <a:t>Automation Build Management  |  QA Rialto  |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55F77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Pipelines Under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555F77"/>
                </a:solidFill>
                <a:latin typeface="Calibri"/>
              </a:rPr>
              <a:t>Live inventory from Jenkins — QA Rialto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097280" cy="54864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554480"/>
          <a:ext cx="114300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1463040"/>
                <a:gridCol w="1188720"/>
                <a:gridCol w="1097280"/>
                <a:gridCol w="2560320"/>
              </a:tblGrid>
              <a:tr h="310896">
                <a:tc>
                  <a:txBody>
                    <a:bodyPr lIns="73152" t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Branch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Last #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</a:tr>
              <a:tr h="310896"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automationrunCAI-RIALTO-B2A-trunk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trunk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401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 b="1">
                          <a:solidFill>
                            <a:srgbClr val="E08A00"/>
                          </a:solidFill>
                          <a:latin typeface="Calibri"/>
                        </a:rPr>
                        <a:t>UNSTABLE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automationrunCAI-RIALTO-B2C-trunk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API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trunk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125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 b="1">
                          <a:solidFill>
                            <a:srgbClr val="E08A00"/>
                          </a:solidFill>
                          <a:latin typeface="Calibri"/>
                        </a:rPr>
                        <a:t>UNSTABLE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10896"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automationrunCAI-RIALTO-B2C-8.7.x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8.7.x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 b="1">
                          <a:solidFill>
                            <a:srgbClr val="E08A00"/>
                          </a:solidFill>
                          <a:latin typeface="Calibri"/>
                        </a:rPr>
                        <a:t>UNSTABLE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automationRun-Rialto-Web-B2A-E2E-trunk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Web E2E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trunk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 b="1">
                          <a:solidFill>
                            <a:srgbClr val="2EA043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10896"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automationRun-Rialto-Web-B2A-E2E-8.7.x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Web E2E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8.7.x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 b="1">
                          <a:solidFill>
                            <a:srgbClr val="2EA043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automationRun-Rialto-Web-B2A-RIALTOMAIN-trunk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Web E2E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trunk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 b="1">
                          <a:solidFill>
                            <a:srgbClr val="2EA043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10896"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automationRun-Rialto-Web-B2A-RIALTOMAIN-8.7.x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Web E2E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8.7.x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 b="1">
                          <a:solidFill>
                            <a:srgbClr val="2EA043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automationRun-RialtoWeb-B2A-MediaHouse-trunk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Web E2E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trunk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 b="1">
                          <a:solidFill>
                            <a:srgbClr val="2EA043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10896"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automationRun-RialtoWeb-B2A-AgencyBackend-Customer-trunk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Web E2E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trunk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 b="1">
                          <a:solidFill>
                            <a:srgbClr val="2EA043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automationrunCAI-RIALTOB2A-IntegrationTesting-Internal-trunk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Internal Int.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trunk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187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 b="1">
                          <a:solidFill>
                            <a:srgbClr val="E08A00"/>
                          </a:solidFill>
                          <a:latin typeface="Calibri"/>
                        </a:rPr>
                        <a:t>UNSTABLE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10896"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automationrunCAI-RIALTOB2A-IntegrationTesting-Internal-trunk-demo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Internal Int.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trunk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 b="1">
                          <a:solidFill>
                            <a:srgbClr val="E08A00"/>
                          </a:solidFill>
                          <a:latin typeface="Calibri"/>
                        </a:rPr>
                        <a:t>UNSTABLE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automationrunCAI-RIALTO-B2A-Internal-AgencyBE8.7-MH-8.6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Internal Int.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mixed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 b="1">
                          <a:solidFill>
                            <a:srgbClr val="2EA043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10896"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AutomationManager-Rialto-trunk / 8.7.x / APIs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Manager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 b="1">
                          <a:solidFill>
                            <a:srgbClr val="00A6D6"/>
                          </a:solidFill>
                          <a:latin typeface="Calibri"/>
                        </a:rPr>
                        <a:t>Orchestrator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AI-Pipeline (build report generation)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AI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  <a:latin typeface="Calibri"/>
                        </a:rPr>
                        <a:t>259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lIns="73152" tIns="18288"/>
                    <a:lstStyle/>
                    <a:p>
                      <a:r>
                        <a:rPr sz="1000" b="1">
                          <a:solidFill>
                            <a:srgbClr val="2EA043"/>
                          </a:solidFill>
                          <a:latin typeface="Calibri"/>
                        </a:rPr>
                        <a:t>SUCCESS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55F77"/>
                </a:solidFill>
                <a:latin typeface="Calibri"/>
              </a:rPr>
              <a:t>Automation Build Management  |  QA Rialto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55F77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How I Manage the Builds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555F77"/>
                </a:solidFill>
                <a:latin typeface="Calibri"/>
              </a:rPr>
              <a:t>End-to-end daily workflow across all pipelines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097280" cy="54864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828800"/>
            <a:ext cx="1874519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79" y="2057400"/>
            <a:ext cx="640080" cy="640080"/>
          </a:xfrm>
          <a:prstGeom prst="ellips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148840"/>
            <a:ext cx="1874519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88920"/>
            <a:ext cx="187451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B3D91"/>
                </a:solidFill>
                <a:latin typeface="Calibri"/>
              </a:rPr>
              <a:t>Trigger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00400"/>
            <a:ext cx="1600199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1F2A44"/>
                </a:solidFill>
                <a:latin typeface="Calibri"/>
              </a:rPr>
              <a:t>Scheduled + on-demand runs across trunk, 8.7.x, 8.6.x and Internal jobs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221991" y="2907792"/>
            <a:ext cx="128016" cy="219456"/>
          </a:xfrm>
          <a:prstGeom prst="rightArrow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85999" y="1828800"/>
            <a:ext cx="1874519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03218" y="2057400"/>
            <a:ext cx="640080" cy="640080"/>
          </a:xfrm>
          <a:prstGeom prst="ellips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5999" y="2148840"/>
            <a:ext cx="1874519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5999" y="2788920"/>
            <a:ext cx="187451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B3D91"/>
                </a:solidFill>
                <a:latin typeface="Calibri"/>
              </a:rPr>
              <a:t>Execute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59" y="3200400"/>
            <a:ext cx="1600199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1F2A44"/>
                </a:solidFill>
                <a:latin typeface="Calibri"/>
              </a:rPr>
              <a:t>Jenkins runs API (CASS), Web E2E and Integration suites in parallel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142230" y="2907792"/>
            <a:ext cx="128016" cy="219456"/>
          </a:xfrm>
          <a:prstGeom prst="rightArrow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06238" y="1828800"/>
            <a:ext cx="1874519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23457" y="2057400"/>
            <a:ext cx="640080" cy="640080"/>
          </a:xfrm>
          <a:prstGeom prst="ellips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38" y="2148840"/>
            <a:ext cx="1874519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38" y="2788920"/>
            <a:ext cx="187451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B3D91"/>
                </a:solidFill>
                <a:latin typeface="Calibri"/>
              </a:rPr>
              <a:t>Collect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398" y="3200400"/>
            <a:ext cx="1600199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1F2A44"/>
                </a:solidFill>
                <a:latin typeface="Calibri"/>
              </a:rPr>
              <a:t>Test results, JUnit XML and console logs pulled via Jenkins MCP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062469" y="2907792"/>
            <a:ext cx="128016" cy="219456"/>
          </a:xfrm>
          <a:prstGeom prst="rightArrow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26477" y="1828800"/>
            <a:ext cx="1874519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43696" y="2057400"/>
            <a:ext cx="640080" cy="640080"/>
          </a:xfrm>
          <a:prstGeom prst="ellips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77" y="2148840"/>
            <a:ext cx="1874519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77" y="2788920"/>
            <a:ext cx="187451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B3D91"/>
                </a:solidFill>
                <a:latin typeface="Calibri"/>
              </a:rPr>
              <a:t>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37" y="3200400"/>
            <a:ext cx="1600199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1F2A44"/>
                </a:solidFill>
                <a:latin typeface="Calibri"/>
              </a:rPr>
              <a:t>Auto-generated build-&lt;id&gt;.md report in reports/build-failures/{job}/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982708" y="2907792"/>
            <a:ext cx="128016" cy="219456"/>
          </a:xfrm>
          <a:prstGeom prst="rightArrow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46716" y="1828800"/>
            <a:ext cx="1874519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63935" y="2057400"/>
            <a:ext cx="640080" cy="640080"/>
          </a:xfrm>
          <a:prstGeom prst="ellips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16" y="2148840"/>
            <a:ext cx="1874519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16" y="2788920"/>
            <a:ext cx="187451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B3D91"/>
                </a:solidFill>
                <a:latin typeface="Calibri"/>
              </a:rPr>
              <a:t>Investigate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76" y="3200400"/>
            <a:ext cx="1600199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1F2A44"/>
                </a:solidFill>
                <a:latin typeface="Calibri"/>
              </a:rPr>
              <a:t>AI-generated root-cause analysis in investigations/copilot-findings/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9902947" y="2907792"/>
            <a:ext cx="128016" cy="219456"/>
          </a:xfrm>
          <a:prstGeom prst="rightArrow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966955" y="1828800"/>
            <a:ext cx="1874519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584174" y="2057400"/>
            <a:ext cx="640080" cy="640080"/>
          </a:xfrm>
          <a:prstGeom prst="ellips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66955" y="2148840"/>
            <a:ext cx="1874519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55" y="2788920"/>
            <a:ext cx="187451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B3D91"/>
                </a:solidFill>
                <a:latin typeface="Calibri"/>
              </a:rPr>
              <a:t>Distribute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04115" y="3200400"/>
            <a:ext cx="1600199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1F2A44"/>
                </a:solidFill>
                <a:latin typeface="Calibri"/>
              </a:rPr>
              <a:t>Weekly summary dashboard + email notifications to stakeholders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457200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555F77"/>
                </a:solidFill>
                <a:latin typeface="Calibri"/>
              </a:rPr>
              <a:t>Tools in the loop: Jenkins  •  Jenkins MCP  •  GitHub Copilot  •  GitHub Actions  •  Markdown dashboards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5760" y="5120640"/>
            <a:ext cx="56692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5285232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B3D91"/>
                </a:solidFill>
                <a:latin typeface="Calibri"/>
              </a:rPr>
              <a:t>Daily responsibilities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568756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▸  Monitor overnight &amp; CI-triggered runs across ~25 pipelines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▸  Triage UNSTABLE / FAILURE builds and file findings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▸  Coordinate with dev teams on regressions and env issues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72200" y="5120640"/>
            <a:ext cx="56692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5285232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B3D91"/>
                </a:solidFill>
                <a:latin typeface="Calibri"/>
              </a:rPr>
              <a:t>Governance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568756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▸  One report per build – reproducible &amp; auditable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▸  Zero manual copy-paste — data pulled directly from Jenkins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▸  History preserved: no build-file edits, only new files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55F77"/>
                </a:solidFill>
                <a:latin typeface="Calibri"/>
              </a:rPr>
              <a:t>Automation Build Management  |  QA Rialto  |  Confidential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55F77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AI-Assisted Build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555F77"/>
                </a:solidFill>
                <a:latin typeface="Calibri"/>
              </a:rPr>
              <a:t>Using GitHub Copilot + Jenkins MCP to scale the QA function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097280" cy="54864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554480"/>
            <a:ext cx="5669280" cy="4663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19072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B3D91"/>
                </a:solidFill>
                <a:latin typeface="Calibri"/>
              </a:rPr>
              <a:t>What the AI does for 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21408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▸  Reads Jenkins builds directly through the MCP server – no manual log copying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▸  Generates a standard build-&lt;id&gt;.md report per failed / unstable build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▸  Produces a root-cause investigation: Summary, Root Cause, Affected Components, Recommended Fix, Prevention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▸  Correlates failures to recent commits and dependency changes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▸  Redacts PII / secrets automatically before writing reports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▸  Runs weekly to publish an HTML + Markdown dashboard of build health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▸  Frees the QA engineer to focus on real defects, not paperwork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54480"/>
            <a:ext cx="5486400" cy="466344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 w="9525"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69164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0B3D91"/>
                </a:solidFill>
                <a:latin typeface="Calibri"/>
              </a:rPr>
              <a:t>The Automation Loop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0" y="2468880"/>
            <a:ext cx="1188720" cy="1188720"/>
          </a:xfrm>
          <a:prstGeom prst="ellipse">
            <a:avLst/>
          </a:prstGeom>
          <a:solidFill>
            <a:srgbClr val="0B3D9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724912"/>
            <a:ext cx="118872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Jenkins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Builds</a:t>
            </a:r>
          </a:p>
        </p:txBody>
      </p:sp>
      <p:sp>
        <p:nvSpPr>
          <p:cNvPr id="14" name="Oval 13"/>
          <p:cNvSpPr/>
          <p:nvPr/>
        </p:nvSpPr>
        <p:spPr>
          <a:xfrm>
            <a:off x="8595360" y="2468880"/>
            <a:ext cx="1188720" cy="1188720"/>
          </a:xfrm>
          <a:prstGeom prst="ellipse">
            <a:avLst/>
          </a:prstGeom>
          <a:solidFill>
            <a:srgbClr val="00A6D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2724912"/>
            <a:ext cx="118872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Jenkins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MCP Server</a:t>
            </a:r>
          </a:p>
        </p:txBody>
      </p:sp>
      <p:sp>
        <p:nvSpPr>
          <p:cNvPr id="16" name="Oval 15"/>
          <p:cNvSpPr/>
          <p:nvPr/>
        </p:nvSpPr>
        <p:spPr>
          <a:xfrm>
            <a:off x="10424160" y="2468880"/>
            <a:ext cx="1188720" cy="1188720"/>
          </a:xfrm>
          <a:prstGeom prst="ellipse">
            <a:avLst/>
          </a:prstGeom>
          <a:solidFill>
            <a:srgbClr val="2EA043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0" y="2724912"/>
            <a:ext cx="118872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Copilot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18" name="Oval 17"/>
          <p:cNvSpPr/>
          <p:nvPr/>
        </p:nvSpPr>
        <p:spPr>
          <a:xfrm>
            <a:off x="6766560" y="4297680"/>
            <a:ext cx="1188720" cy="1188720"/>
          </a:xfrm>
          <a:prstGeom prst="ellipse">
            <a:avLst/>
          </a:prstGeom>
          <a:solidFill>
            <a:srgbClr val="E08A0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4553712"/>
            <a:ext cx="118872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Build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Report (.md)</a:t>
            </a:r>
          </a:p>
        </p:txBody>
      </p:sp>
      <p:sp>
        <p:nvSpPr>
          <p:cNvPr id="20" name="Oval 19"/>
          <p:cNvSpPr/>
          <p:nvPr/>
        </p:nvSpPr>
        <p:spPr>
          <a:xfrm>
            <a:off x="8595360" y="4297680"/>
            <a:ext cx="1188720" cy="1188720"/>
          </a:xfrm>
          <a:prstGeom prst="ellipse">
            <a:avLst/>
          </a:prstGeom>
          <a:solidFill>
            <a:srgbClr val="E08A0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4553712"/>
            <a:ext cx="118872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Root-Cause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Analysis</a:t>
            </a:r>
          </a:p>
        </p:txBody>
      </p:sp>
      <p:sp>
        <p:nvSpPr>
          <p:cNvPr id="22" name="Oval 21"/>
          <p:cNvSpPr/>
          <p:nvPr/>
        </p:nvSpPr>
        <p:spPr>
          <a:xfrm>
            <a:off x="10424160" y="4297680"/>
            <a:ext cx="1188720" cy="1188720"/>
          </a:xfrm>
          <a:prstGeom prst="ellipse">
            <a:avLst/>
          </a:prstGeom>
          <a:solidFill>
            <a:srgbClr val="0B3D9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60" y="4553712"/>
            <a:ext cx="118872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Weekly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55F77"/>
                </a:solidFill>
                <a:latin typeface="Calibri"/>
              </a:rPr>
              <a:t>Automation Build Management  |  QA Rialto  |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55F77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Live Metrics — Snapshot from Jenkins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555F77"/>
                </a:solidFill>
                <a:latin typeface="Calibri"/>
              </a:rPr>
              <a:t>Pulled through the Jenkins MCP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097280" cy="54864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600200"/>
            <a:ext cx="27889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2788920" cy="109728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828800"/>
            <a:ext cx="278892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200" b="1">
                <a:solidFill>
                  <a:srgbClr val="0B3D91"/>
                </a:solidFill>
                <a:latin typeface="Calibri"/>
              </a:rPr>
              <a:t>25+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68880"/>
            <a:ext cx="2788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555F77"/>
                </a:solidFill>
                <a:latin typeface="Calibri"/>
              </a:rPr>
              <a:t>Pipelines managed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600200"/>
            <a:ext cx="27889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600200"/>
            <a:ext cx="2788920" cy="109728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828800"/>
            <a:ext cx="278892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200" b="1">
                <a:solidFill>
                  <a:srgbClr val="0B3D91"/>
                </a:solidFill>
                <a:latin typeface="Calibri"/>
              </a:rPr>
              <a:t>400+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468880"/>
            <a:ext cx="2788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555F77"/>
                </a:solidFill>
                <a:latin typeface="Calibri"/>
              </a:rPr>
              <a:t>B2A trunk builds run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600200"/>
            <a:ext cx="27889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600200"/>
            <a:ext cx="2788920" cy="109728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828800"/>
            <a:ext cx="278892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200" b="1">
                <a:solidFill>
                  <a:srgbClr val="0B3D91"/>
                </a:solidFill>
                <a:latin typeface="Calibri"/>
              </a:rPr>
              <a:t>512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468880"/>
            <a:ext cx="2788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555F77"/>
                </a:solidFill>
                <a:latin typeface="Calibri"/>
              </a:rPr>
              <a:t>Internal demo builds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600200"/>
            <a:ext cx="27889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06840" y="1600200"/>
            <a:ext cx="2788920" cy="109728"/>
          </a:xfrm>
          <a:prstGeom prst="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40" y="1828800"/>
            <a:ext cx="278892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200" b="1">
                <a:solidFill>
                  <a:srgbClr val="0B3D91"/>
                </a:solidFill>
                <a:latin typeface="Calibri"/>
              </a:rPr>
              <a:t>259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2468880"/>
            <a:ext cx="2788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555F77"/>
                </a:solidFill>
                <a:latin typeface="Calibri"/>
              </a:rPr>
              <a:t>AI-Pipeline runs (SUCCESS)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365760" y="3200400"/>
          <a:ext cx="7498079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8092440" y="3200400"/>
            <a:ext cx="3703320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3337560"/>
            <a:ext cx="3474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B3D91"/>
                </a:solidFill>
                <a:latin typeface="Calibri"/>
              </a:rPr>
              <a:t>Latest build status</a:t>
            </a:r>
          </a:p>
        </p:txBody>
      </p:sp>
      <p:sp>
        <p:nvSpPr>
          <p:cNvPr id="26" name="Oval 25"/>
          <p:cNvSpPr/>
          <p:nvPr/>
        </p:nvSpPr>
        <p:spPr>
          <a:xfrm>
            <a:off x="8275320" y="3913632"/>
            <a:ext cx="146304" cy="146304"/>
          </a:xfrm>
          <a:prstGeom prst="ellipse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3840480"/>
            <a:ext cx="21945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Calibri"/>
              </a:rPr>
              <a:t>B2A-trunk #401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3840480"/>
            <a:ext cx="12344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E08A00"/>
                </a:solidFill>
                <a:latin typeface="Calibri"/>
              </a:rPr>
              <a:t>UNSTABLE</a:t>
            </a:r>
          </a:p>
        </p:txBody>
      </p:sp>
      <p:sp>
        <p:nvSpPr>
          <p:cNvPr id="29" name="Oval 28"/>
          <p:cNvSpPr/>
          <p:nvPr/>
        </p:nvSpPr>
        <p:spPr>
          <a:xfrm>
            <a:off x="8275320" y="4279392"/>
            <a:ext cx="146304" cy="146304"/>
          </a:xfrm>
          <a:prstGeom prst="ellipse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0" y="4206240"/>
            <a:ext cx="21945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Calibri"/>
              </a:rPr>
              <a:t>B2C-trunk #125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4206240"/>
            <a:ext cx="12344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E08A00"/>
                </a:solidFill>
                <a:latin typeface="Calibri"/>
              </a:rPr>
              <a:t>UNSTABLE</a:t>
            </a:r>
          </a:p>
        </p:txBody>
      </p:sp>
      <p:sp>
        <p:nvSpPr>
          <p:cNvPr id="32" name="Oval 31"/>
          <p:cNvSpPr/>
          <p:nvPr/>
        </p:nvSpPr>
        <p:spPr>
          <a:xfrm>
            <a:off x="8275320" y="4645152"/>
            <a:ext cx="146304" cy="146304"/>
          </a:xfrm>
          <a:prstGeom prst="ellipse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4572000"/>
            <a:ext cx="21945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Calibri"/>
              </a:rPr>
              <a:t>B2C-8.7.x #97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4572000"/>
            <a:ext cx="12344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E08A00"/>
                </a:solidFill>
                <a:latin typeface="Calibri"/>
              </a:rPr>
              <a:t>UNSTABLE</a:t>
            </a:r>
          </a:p>
        </p:txBody>
      </p:sp>
      <p:sp>
        <p:nvSpPr>
          <p:cNvPr id="35" name="Oval 34"/>
          <p:cNvSpPr/>
          <p:nvPr/>
        </p:nvSpPr>
        <p:spPr>
          <a:xfrm>
            <a:off x="8275320" y="5010912"/>
            <a:ext cx="146304" cy="146304"/>
          </a:xfrm>
          <a:prstGeom prst="ellipse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20" y="4937760"/>
            <a:ext cx="21945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Calibri"/>
              </a:rPr>
              <a:t>Internal-trunk #187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4937760"/>
            <a:ext cx="12344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E08A00"/>
                </a:solidFill>
                <a:latin typeface="Calibri"/>
              </a:rPr>
              <a:t>UNSTABLE</a:t>
            </a:r>
          </a:p>
        </p:txBody>
      </p:sp>
      <p:sp>
        <p:nvSpPr>
          <p:cNvPr id="38" name="Oval 37"/>
          <p:cNvSpPr/>
          <p:nvPr/>
        </p:nvSpPr>
        <p:spPr>
          <a:xfrm>
            <a:off x="8275320" y="5376672"/>
            <a:ext cx="146304" cy="146304"/>
          </a:xfrm>
          <a:prstGeom prst="ellipse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03920" y="5303520"/>
            <a:ext cx="21945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Calibri"/>
              </a:rPr>
              <a:t>Internal-trunk-demo #512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03520"/>
            <a:ext cx="12344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E08A00"/>
                </a:solidFill>
                <a:latin typeface="Calibri"/>
              </a:rPr>
              <a:t>UNSTABLE</a:t>
            </a:r>
          </a:p>
        </p:txBody>
      </p:sp>
      <p:sp>
        <p:nvSpPr>
          <p:cNvPr id="41" name="Oval 40"/>
          <p:cNvSpPr/>
          <p:nvPr/>
        </p:nvSpPr>
        <p:spPr>
          <a:xfrm>
            <a:off x="8275320" y="5742432"/>
            <a:ext cx="146304" cy="146304"/>
          </a:xfrm>
          <a:prstGeom prst="ellipse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03920" y="5669280"/>
            <a:ext cx="21945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Calibri"/>
              </a:rPr>
              <a:t>AI-Pipeline #259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669280"/>
            <a:ext cx="12344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2EA043"/>
                </a:solidFill>
                <a:latin typeface="Calibri"/>
              </a:rPr>
              <a:t>SUCCESS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30936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555F77"/>
                </a:solidFill>
                <a:latin typeface="Calibri"/>
              </a:rPr>
              <a:t>Data source: Jenkins REST API via MCP  •  Timestamps normalised to UTC  •  Values illustrative from most recent runs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55F77"/>
                </a:solidFill>
                <a:latin typeface="Calibri"/>
              </a:rPr>
              <a:t>Automation Build Management  |  QA Rialto  |  Confidential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55F77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Rialto Internal Integration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555F77"/>
                </a:solidFill>
                <a:latin typeface="Calibri"/>
              </a:rPr>
              <a:t>Cross-version compatibility &amp; end-to-end integration coverage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097280" cy="54864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600200"/>
            <a:ext cx="566928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64792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B3D91"/>
                </a:solidFill>
                <a:latin typeface="Calibri"/>
              </a:rP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67128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▸  Validate end-to-end flows across Rialto B2A internal services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▸  Verify AgencyBackend, MediaHouse and CASS interactions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▸  Run mixed-version scenarios (e.g. AgencyBE 8.7 × MediaHouse 8.6)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▸  Catch integration regressions before release branches diverge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00200"/>
            <a:ext cx="566928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64792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B3D91"/>
                </a:solidFill>
                <a:latin typeface="Calibri"/>
              </a:rPr>
              <a:t>Pipelines involved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67128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▸  automationrunCAI-RIALTOB2A-IntegrationTesting-Internal-trunk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▸  automationrunCAI-RIALTOB2A-IntegrationTesting-Internal-trunk-demo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▸  automationrunCAI-RIALTOB2A-IntegrationTesting-Internal-trunk-pipeline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▸  automationrunCAI-RIALTO-B2A-Internal-AgencyBE8.7-MH-8.6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023360"/>
            <a:ext cx="566928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187952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B3D91"/>
                </a:solidFill>
                <a:latin typeface="Calibri"/>
              </a:rPr>
              <a:t>Recent activity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590288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▸  Internal-trunk latest: build #187 — UNSTABLE (~94 min run)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▸  Internal-trunk-demo latest: build #512 — UNSTABLE (~3 min)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▸  Reports auto-generated under reports/build-failures/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▸  Investigations logged one-file-per-build in copilot-findings/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023360"/>
            <a:ext cx="566928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187952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2EA043"/>
                </a:solidFill>
                <a:latin typeface="Calibri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590288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▸  Prevents late-stage integration surprises before release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▸  Guarantees Rialto self-service, order-flow &amp; pricing stay consistent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▸  Provides the release manager a single view of cross-branch health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▸  Backed by a machine-readable trail (Markdown + JUnit)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55F77"/>
                </a:solidFill>
                <a:latin typeface="Calibri"/>
              </a:rPr>
              <a:t>Automation Build Management  |  QA Rialto  | 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55F77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Benefits Delivered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555F77"/>
                </a:solidFill>
                <a:latin typeface="Calibri"/>
              </a:rPr>
              <a:t>Business &amp; engineering value from this way of working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097280" cy="54864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554480"/>
            <a:ext cx="379476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137160" cy="210312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8229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0">
                <a:solidFill>
                  <a:srgbClr val="0B3D91"/>
                </a:solidFill>
                <a:latin typeface="Calibri"/>
              </a:rPr>
              <a:t>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2514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B3D91"/>
                </a:solidFill>
                <a:latin typeface="Calibri"/>
              </a:rPr>
              <a:t>Faster feedback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251460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>
                <a:solidFill>
                  <a:srgbClr val="1F2A44"/>
                </a:solidFill>
                <a:latin typeface="Calibri"/>
              </a:rPr>
              <a:t>Failures triaged the same day they occur — no more waiting for the next standup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554480"/>
            <a:ext cx="379476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554480"/>
            <a:ext cx="137160" cy="2103120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783080"/>
            <a:ext cx="8229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0">
                <a:solidFill>
                  <a:srgbClr val="00A6D6"/>
                </a:solidFill>
                <a:latin typeface="Calibri"/>
              </a:rPr>
              <a:t>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1828800"/>
            <a:ext cx="2514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B3D91"/>
                </a:solidFill>
                <a:latin typeface="Calibri"/>
              </a:rPr>
              <a:t>Consistent reporting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2331720"/>
            <a:ext cx="251460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>
                <a:solidFill>
                  <a:srgbClr val="1F2A44"/>
                </a:solidFill>
                <a:latin typeface="Calibri"/>
              </a:rPr>
              <a:t>One standard Markdown format across every job and every build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554480"/>
            <a:ext cx="379476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554480"/>
            <a:ext cx="137160" cy="210312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1783080"/>
            <a:ext cx="8229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0">
                <a:solidFill>
                  <a:srgbClr val="2EA043"/>
                </a:solidFill>
                <a:latin typeface="Calibri"/>
              </a:rPr>
              <a:t>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1828800"/>
            <a:ext cx="2514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B3D91"/>
                </a:solidFill>
                <a:latin typeface="Calibri"/>
              </a:rPr>
              <a:t>AI leverage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331720"/>
            <a:ext cx="251460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>
                <a:solidFill>
                  <a:srgbClr val="1F2A44"/>
                </a:solidFill>
                <a:latin typeface="Calibri"/>
              </a:rPr>
              <a:t>Copilot reads Jenkins directly and drafts the RCA — engineer just validates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794760"/>
            <a:ext cx="379476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794760"/>
            <a:ext cx="137160" cy="2103120"/>
          </a:xfrm>
          <a:prstGeom prst="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023360"/>
            <a:ext cx="8229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0">
                <a:solidFill>
                  <a:srgbClr val="E08A00"/>
                </a:solidFill>
                <a:latin typeface="Calibri"/>
              </a:rPr>
              <a:t>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069080"/>
            <a:ext cx="2514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B3D91"/>
                </a:solidFill>
                <a:latin typeface="Calibri"/>
              </a:rPr>
              <a:t>Trend visibility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572000"/>
            <a:ext cx="251460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>
                <a:solidFill>
                  <a:srgbClr val="1F2A44"/>
                </a:solidFill>
                <a:latin typeface="Calibri"/>
              </a:rPr>
              <a:t>Weekly dashboards expose flaky tests and regressions over time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3794760"/>
            <a:ext cx="379476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51960" y="3794760"/>
            <a:ext cx="137160" cy="210312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4023360"/>
            <a:ext cx="8229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0">
                <a:solidFill>
                  <a:srgbClr val="1F2A44"/>
                </a:solidFill>
                <a:latin typeface="Calibri"/>
              </a:rPr>
              <a:t>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4069080"/>
            <a:ext cx="2514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B3D91"/>
                </a:solidFill>
                <a:latin typeface="Calibri"/>
              </a:rPr>
              <a:t>Audit &amp; compliance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0680" y="4572000"/>
            <a:ext cx="251460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>
                <a:solidFill>
                  <a:srgbClr val="1F2A44"/>
                </a:solidFill>
                <a:latin typeface="Calibri"/>
              </a:rPr>
              <a:t>Every build has an immutable report file — full history in Git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3794760"/>
            <a:ext cx="379476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8160" y="3794760"/>
            <a:ext cx="137160" cy="2103120"/>
          </a:xfrm>
          <a:prstGeom prst="rect">
            <a:avLst/>
          </a:prstGeom>
          <a:solidFill>
            <a:srgbClr val="CC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20" y="4023360"/>
            <a:ext cx="8229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0">
                <a:solidFill>
                  <a:srgbClr val="CC1F2E"/>
                </a:solidFill>
                <a:latin typeface="Calibri"/>
              </a:rPr>
              <a:t>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4069080"/>
            <a:ext cx="2514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B3D91"/>
                </a:solidFill>
                <a:latin typeface="Calibri"/>
              </a:rPr>
              <a:t>Cost avoidance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4572000"/>
            <a:ext cx="251460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>
                <a:solidFill>
                  <a:srgbClr val="1F2A44"/>
                </a:solidFill>
                <a:latin typeface="Calibri"/>
              </a:rPr>
              <a:t>Fewer escaped defects → less rework, fewer hot-fixes on 8.7.x / 8.6.x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55F77"/>
                </a:solidFill>
                <a:latin typeface="Calibri"/>
              </a:rPr>
              <a:t>Automation Build Management  |  QA Rialto  |  Confidential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55F77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Roadmap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555F77"/>
                </a:solidFill>
                <a:latin typeface="Calibri"/>
              </a:rPr>
              <a:t>Where I want to take automation build management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097280" cy="54864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645920"/>
            <a:ext cx="379476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645920"/>
            <a:ext cx="3794760" cy="6858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755648"/>
            <a:ext cx="37947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29968"/>
            <a:ext cx="37947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Stabilise &amp;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60320"/>
            <a:ext cx="3337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▸  Bring flaky B2A / B2C API tests below 2% flake rate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▸  Extend AI investigations to Web E2E pipelines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▸  Onboard remaining 8.6.x jobs into the same reporting 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645920"/>
            <a:ext cx="379476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645920"/>
            <a:ext cx="3794760" cy="685800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1755648"/>
            <a:ext cx="37947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029968"/>
            <a:ext cx="37947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Insights &amp; prevention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560320"/>
            <a:ext cx="3337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▸  Trend-based dashboards (heat-maps of failing suites)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▸  Automatic linking of failures to suspect commits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▸  Slack/email alerts for two consecutive UNSTABLE builds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645920"/>
            <a:ext cx="379476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645920"/>
            <a:ext cx="3794760" cy="68580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755648"/>
            <a:ext cx="37947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Future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029968"/>
            <a:ext cx="37947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Self-healing automation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560320"/>
            <a:ext cx="3337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▸  AI-suggested fixes committed as draft PRs to test repos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▸  Predictive test selection for faster feedback loops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A44"/>
                </a:solidFill>
                <a:latin typeface="Calibri"/>
              </a:rPr>
              <a:t>▸  Full-stack integration health score per release branch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55F77"/>
                </a:solidFill>
                <a:latin typeface="Calibri"/>
              </a:rPr>
              <a:t>Automation Build Management  |  QA Rialto  | 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55F77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1695" cy="73152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00A6D6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Managing 25+ Jenkins pipelines across Rialto trunk, 8.7.x, 8.6.x and Internal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348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Powered by Jenkins MCP  +  GitHub Copilot  +  automated Markdown reporting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7D4E6"/>
                </a:solidFill>
                <a:latin typeface="Calibri"/>
              </a:rPr>
              <a:t>QA Automation  |  Atex Rialto  |  10 Sep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